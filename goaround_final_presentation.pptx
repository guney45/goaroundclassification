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Our project is about predicting go-arounds — aborted landing attempts — using open aviation and weather data. I'm [name], and this is [partner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go-around is when a pilot decides the landing isn't safe and climbs away to try again. It's the correct thing to do, but it disrupts traffic and increases controller workload. The challenge is that they are very rare — under 0.4% of all landings — which makes this a difficult imbalanced classification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 large public dataset from Zenodo covering all 2019 landings at 176 airports. We split it strictly by time — train on January through August, validate on September-October, and test on November-December. This prevents any future data leaking into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defined two feature sets to run an ablation study. The context-only set uses airport, aircraft, runway, and time information. The full set adds METAR weather observations. One important step was removing n_approaches from features — it counted how many approaches a flight made total, which directly leaks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five classifiers — from the classical LDA baseline to neural and boosting models. All were trained with class weighting to handle the imbalance. After training, we tuned the decision threshold on the validation set to maximize F1 rather than using the default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test set results. We rank by PR-AUC because it is the right metric for rare events — ROC-AUC can look good even on imbalanced problems. The MLP with full weather features came first by PR-AUC at 0.016, about 4.6 times above the no-skill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weather features improved every single model by 30 to 46 percent in PR-AUC among the main methods shown here. This confirms that visibility, wind, and weather codes carry real predictive signal that context features alone cannot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the inherent difficulty of the problem. Even the best model detects only about 4% of go-arounds. This is expected — go-arounds share almost identical observable conditions with the vast majority of normal landings.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runs in a single Docker container. The FastAPI backend loads the trained model at startup and exposes both a JSON API and an HTML interface. Everything runs with one docker compose up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go-around classification is feasible but difficult. Weather features consistently improve performance. The final system is a single Docker container with a trained MLP model, FastAPI backend, and HTML interface. Now we will run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pic>
        <p:nvPicPr>
          <p:cNvPr id="2" name="Image 0" descr="/mnt/data/title_bg_dark.pn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960120"/>
            <a:ext cx="5166360" cy="1389888"/>
          </a:xfrm>
          <a:prstGeom prst="rect">
            <a:avLst/>
          </a:prstGeom>
          <a:noFill/>
          <a:ln/>
        </p:spPr>
        <p:txBody>
          <a:bodyPr wrap="square" lIns="0" tIns="0" rIns="0" bIns="0" rtlCol="0" anchor="ctr">
            <a:normAutofit/>
          </a:bodyPr>
          <a:lstStyle/>
          <a:p>
            <a:pPr indent="0" marL="0">
              <a:buNone/>
            </a:pPr>
            <a:r>
              <a:rPr lang="en-US" sz="4500" b="1" dirty="0">
                <a:solidFill>
                  <a:srgbClr val="FFFFFF"/>
                </a:solidFill>
                <a:latin typeface="Aptos Display" pitchFamily="34" charset="0"/>
                <a:ea typeface="Aptos Display" pitchFamily="34" charset="-122"/>
                <a:cs typeface="Aptos Display" pitchFamily="34" charset="-120"/>
              </a:rPr>
              <a:t>Go-Around</a:t>
            </a:r>
            <a:endParaRPr lang="en-US" sz="4500" dirty="0"/>
          </a:p>
          <a:p>
            <a:pPr indent="0" marL="0">
              <a:buNone/>
            </a:pPr>
            <a:r>
              <a:rPr lang="en-US" sz="4500" b="1" dirty="0">
                <a:solidFill>
                  <a:srgbClr val="FFFFFF"/>
                </a:solidFill>
                <a:latin typeface="Aptos Display" pitchFamily="34" charset="0"/>
                <a:ea typeface="Aptos Display" pitchFamily="34" charset="-122"/>
                <a:cs typeface="Aptos Display" pitchFamily="34" charset="-120"/>
              </a:rPr>
              <a:t>Classification</a:t>
            </a:r>
            <a:endParaRPr lang="en-US" sz="4500" dirty="0"/>
          </a:p>
        </p:txBody>
      </p:sp>
      <p:sp>
        <p:nvSpPr>
          <p:cNvPr id="4" name="Text 1"/>
          <p:cNvSpPr/>
          <p:nvPr/>
        </p:nvSpPr>
        <p:spPr>
          <a:xfrm>
            <a:off x="694944" y="2505456"/>
            <a:ext cx="4828032" cy="347472"/>
          </a:xfrm>
          <a:prstGeom prst="rect">
            <a:avLst/>
          </a:prstGeom>
          <a:noFill/>
          <a:ln/>
        </p:spPr>
        <p:txBody>
          <a:bodyPr wrap="square" lIns="0" tIns="0" rIns="0" bIns="0" rtlCol="0" anchor="ctr"/>
          <a:lstStyle/>
          <a:p>
            <a:pPr indent="0" marL="0">
              <a:buNone/>
            </a:pPr>
            <a:r>
              <a:rPr lang="en-US" sz="2200" dirty="0">
                <a:solidFill>
                  <a:srgbClr val="D8E6F3"/>
                </a:solidFill>
              </a:rPr>
              <a:t>Using ADS-B and METAR Data</a:t>
            </a:r>
            <a:endParaRPr lang="en-US" sz="2200" dirty="0"/>
          </a:p>
        </p:txBody>
      </p:sp>
      <p:sp>
        <p:nvSpPr>
          <p:cNvPr id="5" name="Shape 2"/>
          <p:cNvSpPr/>
          <p:nvPr/>
        </p:nvSpPr>
        <p:spPr>
          <a:xfrm>
            <a:off x="694944" y="3035808"/>
            <a:ext cx="4069080" cy="0"/>
          </a:xfrm>
          <a:prstGeom prst="line">
            <a:avLst/>
          </a:prstGeom>
          <a:noFill/>
          <a:ln w="38100">
            <a:solidFill>
              <a:srgbClr val="F28C28"/>
            </a:solidFill>
            <a:prstDash val="solid"/>
          </a:ln>
        </p:spPr>
      </p:sp>
      <p:sp>
        <p:nvSpPr>
          <p:cNvPr id="6" name="Text 3"/>
          <p:cNvSpPr/>
          <p:nvPr/>
        </p:nvSpPr>
        <p:spPr>
          <a:xfrm>
            <a:off x="694944" y="3310128"/>
            <a:ext cx="4892040" cy="320040"/>
          </a:xfrm>
          <a:prstGeom prst="rect">
            <a:avLst/>
          </a:prstGeom>
          <a:noFill/>
          <a:ln/>
        </p:spPr>
        <p:txBody>
          <a:bodyPr wrap="square" lIns="0" tIns="0" rIns="0" bIns="0" rtlCol="0" anchor="ctr"/>
          <a:lstStyle/>
          <a:p>
            <a:pPr indent="0" marL="0">
              <a:buNone/>
            </a:pPr>
            <a:r>
              <a:rPr lang="en-US" sz="1550" dirty="0">
                <a:solidFill>
                  <a:srgbClr val="B7C9D9"/>
                </a:solidFill>
              </a:rPr>
              <a:t>BBL514E Pattern Recognition — Term Project</a:t>
            </a:r>
            <a:endParaRPr lang="en-US" sz="1550" dirty="0"/>
          </a:p>
        </p:txBody>
      </p:sp>
      <p:sp>
        <p:nvSpPr>
          <p:cNvPr id="7" name="Text 4"/>
          <p:cNvSpPr/>
          <p:nvPr/>
        </p:nvSpPr>
        <p:spPr>
          <a:xfrm>
            <a:off x="694944" y="5870448"/>
            <a:ext cx="5212080" cy="320040"/>
          </a:xfrm>
          <a:prstGeom prst="rect">
            <a:avLst/>
          </a:prstGeom>
          <a:noFill/>
          <a:ln/>
        </p:spPr>
        <p:txBody>
          <a:bodyPr wrap="square" lIns="0" tIns="0" rIns="0" bIns="0" rtlCol="0" anchor="ctr">
            <a:normAutofit/>
          </a:bodyPr>
          <a:lstStyle/>
          <a:p>
            <a:pPr indent="0" marL="0">
              <a:buNone/>
            </a:pPr>
            <a:r>
              <a:rPr lang="en-US" sz="1260" dirty="0">
                <a:solidFill>
                  <a:srgbClr val="EAF4FF"/>
                </a:solidFill>
              </a:rPr>
              <a:t>Furkan Güney (704241023) · Alper Berkin Yazıcı (704241020)</a:t>
            </a:r>
            <a:endParaRPr lang="en-US" sz="12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4389120" cy="219456"/>
          </a:xfrm>
          <a:prstGeom prst="rect">
            <a:avLst/>
          </a:prstGeom>
          <a:noFill/>
          <a:ln/>
        </p:spPr>
        <p:txBody>
          <a:bodyPr wrap="square" lIns="0" tIns="0" rIns="0" bIns="0" rtlCol="0" anchor="ctr"/>
          <a:lstStyle/>
          <a:p>
            <a:pPr indent="0" marL="0">
              <a:buNone/>
            </a:pPr>
            <a:r>
              <a:rPr lang="en-US" sz="1050" b="1" dirty="0">
                <a:solidFill>
                  <a:srgbClr val="1677BB"/>
                </a:solidFill>
                <a:latin typeface="Aptos" pitchFamily="34" charset="0"/>
                <a:ea typeface="Aptos" pitchFamily="34" charset="-122"/>
                <a:cs typeface="Aptos" pitchFamily="34" charset="-120"/>
              </a:rPr>
              <a:t>PROBLEM</a:t>
            </a:r>
            <a:endParaRPr lang="en-US" sz="1050" dirty="0"/>
          </a:p>
        </p:txBody>
      </p:sp>
      <p:sp>
        <p:nvSpPr>
          <p:cNvPr id="3" name="Text 1"/>
          <p:cNvSpPr/>
          <p:nvPr/>
        </p:nvSpPr>
        <p:spPr>
          <a:xfrm>
            <a:off x="502920" y="530352"/>
            <a:ext cx="11064240" cy="502920"/>
          </a:xfrm>
          <a:prstGeom prst="rect">
            <a:avLst/>
          </a:prstGeom>
          <a:noFill/>
          <a:ln/>
        </p:spPr>
        <p:txBody>
          <a:bodyPr wrap="square" lIns="0" tIns="0" rIns="0" bIns="0" rtlCol="0" anchor="ctr"/>
          <a:lstStyle/>
          <a:p>
            <a:pPr indent="0" marL="0">
              <a:buNone/>
            </a:pPr>
            <a:r>
              <a:rPr lang="en-US" sz="3050" b="1" dirty="0">
                <a:solidFill>
                  <a:srgbClr val="102A43"/>
                </a:solidFill>
                <a:latin typeface="Aptos Display" pitchFamily="34" charset="0"/>
                <a:ea typeface="Aptos Display" pitchFamily="34" charset="-122"/>
                <a:cs typeface="Aptos Display" pitchFamily="34" charset="-120"/>
              </a:rPr>
              <a:t>What is a Go-Around?</a:t>
            </a:r>
            <a:endParaRPr lang="en-US" sz="3050" dirty="0"/>
          </a:p>
        </p:txBody>
      </p:sp>
      <p:sp>
        <p:nvSpPr>
          <p:cNvPr id="4" name="Shape 2"/>
          <p:cNvSpPr/>
          <p:nvPr/>
        </p:nvSpPr>
        <p:spPr>
          <a:xfrm>
            <a:off x="502920" y="1115568"/>
            <a:ext cx="11064240" cy="0"/>
          </a:xfrm>
          <a:prstGeom prst="line">
            <a:avLst/>
          </a:prstGeom>
          <a:noFill/>
          <a:ln w="12700">
            <a:solidFill>
              <a:srgbClr val="D9E2EC"/>
            </a:solidFill>
            <a:prstDash val="solid"/>
          </a:ln>
        </p:spPr>
      </p:sp>
      <p:pic>
        <p:nvPicPr>
          <p:cNvPr id="5" name="Image 0" descr="/mnt/data/a_clean_vector_illustration_style_aviation_diagram.png">    </p:cNvPr>
          <p:cNvPicPr>
            <a:picLocks noChangeAspect="1"/>
          </p:cNvPicPr>
          <p:nvPr/>
        </p:nvPicPr>
        <p:blipFill>
          <a:blip r:embed="rId1"/>
          <a:srcRect l="4706" r="4706" t="0" b="0"/>
          <a:stretch/>
        </p:blipFill>
        <p:spPr>
          <a:xfrm>
            <a:off x="502920" y="1353312"/>
            <a:ext cx="6446520" cy="4005072"/>
          </a:xfrm>
          <a:prstGeom prst="rect">
            <a:avLst/>
          </a:prstGeom>
        </p:spPr>
      </p:pic>
      <p:sp>
        <p:nvSpPr>
          <p:cNvPr id="6" name="Text 3"/>
          <p:cNvSpPr/>
          <p:nvPr/>
        </p:nvSpPr>
        <p:spPr>
          <a:xfrm>
            <a:off x="713232" y="5577840"/>
            <a:ext cx="6035040" cy="475488"/>
          </a:xfrm>
          <a:prstGeom prst="rect">
            <a:avLst/>
          </a:prstGeom>
          <a:solidFill>
            <a:srgbClr val="EAF4FF"/>
          </a:solidFill>
          <a:ln w="13970">
            <a:solidFill>
              <a:srgbClr val="1677BB"/>
            </a:solidFill>
          </a:ln>
        </p:spPr>
        <p:txBody>
          <a:bodyPr wrap="square" lIns="1651" tIns="1651" rIns="1651" bIns="1651" rtlCol="0" anchor="ctr">
            <a:normAutofit/>
          </a:bodyPr>
          <a:lstStyle/>
          <a:p>
            <a:pPr indent="0" marL="0">
              <a:buNone/>
            </a:pPr>
            <a:r>
              <a:rPr lang="en-US" sz="1600" dirty="0">
                <a:solidFill>
                  <a:srgbClr val="102A43"/>
                </a:solidFill>
              </a:rPr>
              <a:t>Can we predict go-around risk from public data before touchdown?</a:t>
            </a:r>
            <a:endParaRPr lang="en-US" sz="1600" dirty="0"/>
          </a:p>
        </p:txBody>
      </p:sp>
      <p:sp>
        <p:nvSpPr>
          <p:cNvPr id="7" name="Text 4"/>
          <p:cNvSpPr/>
          <p:nvPr/>
        </p:nvSpPr>
        <p:spPr>
          <a:xfrm>
            <a:off x="7315200" y="1508760"/>
            <a:ext cx="4251960" cy="1874520"/>
          </a:xfrm>
          <a:prstGeom prst="rect">
            <a:avLst/>
          </a:prstGeom>
          <a:noFill/>
          <a:ln/>
        </p:spPr>
        <p:txBody>
          <a:bodyPr wrap="square" lIns="254" tIns="254" rIns="254" bIns="254" rtlCol="0" anchor="ctr"/>
          <a:lstStyle/>
          <a:p>
            <a:pPr marL="203200" indent="-203200">
              <a:buSzPct val="100000"/>
              <a:buChar char="•"/>
            </a:pPr>
            <a:r>
              <a:rPr lang="en-US" sz="1760" dirty="0">
                <a:solidFill>
                  <a:srgbClr val="102A43"/>
                </a:solidFill>
              </a:rPr>
              <a:t>Pilot aborts landing on final approach</a:t>
            </a:r>
            <a:endParaRPr lang="en-US" sz="1760" dirty="0"/>
          </a:p>
          <a:p>
            <a:pPr marL="203200" indent="-203200">
              <a:buSzPct val="100000"/>
              <a:buChar char="•"/>
            </a:pPr>
            <a:r>
              <a:rPr lang="en-US" sz="1760" dirty="0">
                <a:solidFill>
                  <a:srgbClr val="102A43"/>
                </a:solidFill>
              </a:rPr>
              <a:t>Aircraft climbs away and re-attempts</a:t>
            </a:r>
            <a:endParaRPr lang="en-US" sz="1760" dirty="0"/>
          </a:p>
          <a:p>
            <a:pPr marL="203200" indent="-203200">
              <a:buSzPct val="100000"/>
              <a:buChar char="•"/>
            </a:pPr>
            <a:r>
              <a:rPr lang="en-US" sz="1760" dirty="0">
                <a:solidFill>
                  <a:srgbClr val="102A43"/>
                </a:solidFill>
              </a:rPr>
              <a:t>Safety-preserving — but increases workload</a:t>
            </a:r>
            <a:endParaRPr lang="en-US" sz="1760" dirty="0"/>
          </a:p>
          <a:p>
            <a:pPr marL="203200" indent="-203200">
              <a:buSzPct val="100000"/>
              <a:buChar char="•"/>
            </a:pPr>
            <a:r>
              <a:rPr lang="en-US" sz="1760" dirty="0">
                <a:solidFill>
                  <a:srgbClr val="102A43"/>
                </a:solidFill>
              </a:rPr>
              <a:t>Typical rate: 0.1–2% of landings</a:t>
            </a:r>
            <a:endParaRPr lang="en-US" sz="1760" dirty="0"/>
          </a:p>
        </p:txBody>
      </p:sp>
      <p:sp>
        <p:nvSpPr>
          <p:cNvPr id="8" name="Text 5"/>
          <p:cNvSpPr/>
          <p:nvPr/>
        </p:nvSpPr>
        <p:spPr>
          <a:xfrm>
            <a:off x="7388352" y="3703320"/>
            <a:ext cx="2148840" cy="228600"/>
          </a:xfrm>
          <a:prstGeom prst="rect">
            <a:avLst/>
          </a:prstGeom>
          <a:noFill/>
          <a:ln/>
        </p:spPr>
        <p:txBody>
          <a:bodyPr wrap="square" lIns="0" tIns="0" rIns="0" bIns="0" rtlCol="0" anchor="ctr"/>
          <a:lstStyle/>
          <a:p>
            <a:pPr indent="0" marL="0">
              <a:buNone/>
            </a:pPr>
            <a:r>
              <a:rPr lang="en-US" sz="1300" dirty="0">
                <a:solidFill>
                  <a:srgbClr val="5F6C7B"/>
                </a:solidFill>
              </a:rPr>
              <a:t>Dataset prevalence</a:t>
            </a:r>
            <a:endParaRPr lang="en-US" sz="1300" dirty="0"/>
          </a:p>
        </p:txBody>
      </p:sp>
      <p:sp>
        <p:nvSpPr>
          <p:cNvPr id="9" name="Text 6"/>
          <p:cNvSpPr/>
          <p:nvPr/>
        </p:nvSpPr>
        <p:spPr>
          <a:xfrm>
            <a:off x="7388352" y="4096512"/>
            <a:ext cx="1828800" cy="594360"/>
          </a:xfrm>
          <a:prstGeom prst="rect">
            <a:avLst/>
          </a:prstGeom>
          <a:noFill/>
          <a:ln/>
        </p:spPr>
        <p:txBody>
          <a:bodyPr wrap="square" lIns="0" tIns="0" rIns="0" bIns="0" rtlCol="0" anchor="ctr"/>
          <a:lstStyle/>
          <a:p>
            <a:pPr indent="0" marL="0">
              <a:buNone/>
            </a:pPr>
            <a:r>
              <a:rPr lang="en-US" sz="3600" b="1" dirty="0">
                <a:solidFill>
                  <a:srgbClr val="D64545"/>
                </a:solidFill>
              </a:rPr>
              <a:t>0.37%</a:t>
            </a:r>
            <a:endParaRPr lang="en-US" sz="3600" dirty="0"/>
          </a:p>
        </p:txBody>
      </p:sp>
      <p:sp>
        <p:nvSpPr>
          <p:cNvPr id="10" name="Text 7"/>
          <p:cNvSpPr/>
          <p:nvPr/>
        </p:nvSpPr>
        <p:spPr>
          <a:xfrm>
            <a:off x="9710928" y="4251960"/>
            <a:ext cx="1371600" cy="320040"/>
          </a:xfrm>
          <a:prstGeom prst="rect">
            <a:avLst/>
          </a:prstGeom>
          <a:noFill/>
          <a:ln/>
        </p:spPr>
        <p:txBody>
          <a:bodyPr wrap="square" lIns="0" tIns="0" rIns="0" bIns="0" rtlCol="0" anchor="ctr"/>
          <a:lstStyle/>
          <a:p>
            <a:pPr indent="0" marL="0">
              <a:buNone/>
            </a:pPr>
            <a:r>
              <a:rPr lang="en-US" sz="1600" b="1" dirty="0">
                <a:solidFill>
                  <a:srgbClr val="102A43"/>
                </a:solidFill>
              </a:rPr>
              <a:t>positive class</a:t>
            </a:r>
            <a:endParaRPr lang="en-US" sz="1600" dirty="0"/>
          </a:p>
        </p:txBody>
      </p:sp>
      <p:sp>
        <p:nvSpPr>
          <p:cNvPr id="11" name="Text 8"/>
          <p:cNvSpPr/>
          <p:nvPr/>
        </p:nvSpPr>
        <p:spPr>
          <a:xfrm>
            <a:off x="7388352" y="4901184"/>
            <a:ext cx="3931920" cy="566928"/>
          </a:xfrm>
          <a:prstGeom prst="rect">
            <a:avLst/>
          </a:prstGeom>
          <a:noFill/>
          <a:ln/>
        </p:spPr>
        <p:txBody>
          <a:bodyPr wrap="square" lIns="0" tIns="0" rIns="0" bIns="0" rtlCol="0" anchor="ctr">
            <a:normAutofit/>
          </a:bodyPr>
          <a:lstStyle/>
          <a:p>
            <a:pPr indent="0" marL="0">
              <a:buNone/>
            </a:pPr>
            <a:r>
              <a:rPr lang="en-US" sz="1800" dirty="0">
                <a:solidFill>
                  <a:srgbClr val="102A43"/>
                </a:solidFill>
              </a:rPr>
              <a:t>Severe class imbalance makes accuracy misleading.</a:t>
            </a:r>
            <a:endParaRPr lang="en-US" sz="1800" dirty="0"/>
          </a:p>
        </p:txBody>
      </p:sp>
      <p:sp>
        <p:nvSpPr>
          <p:cNvPr id="12" name="Text 9"/>
          <p:cNvSpPr/>
          <p:nvPr/>
        </p:nvSpPr>
        <p:spPr>
          <a:xfrm>
            <a:off x="502920" y="6519672"/>
            <a:ext cx="11155680" cy="228600"/>
          </a:xfrm>
          <a:prstGeom prst="rect">
            <a:avLst/>
          </a:prstGeom>
          <a:noFill/>
          <a:ln/>
        </p:spPr>
        <p:txBody>
          <a:bodyPr wrap="square" lIns="0" tIns="0" rIns="0" bIns="0" rtlCol="0" anchor="ctr"/>
          <a:lstStyle/>
          <a:p>
            <a:pPr algn="r" indent="0" marL="0">
              <a:buNone/>
            </a:pPr>
            <a:r>
              <a:rPr lang="en-US" sz="850" dirty="0">
                <a:solidFill>
                  <a:srgbClr val="718096"/>
                </a:solidFill>
              </a:rPr>
              <a:t>BBL514E Pattern Recognition  |  Go-Around Classification  |  2/10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4389120" cy="219456"/>
          </a:xfrm>
          <a:prstGeom prst="rect">
            <a:avLst/>
          </a:prstGeom>
          <a:noFill/>
          <a:ln/>
        </p:spPr>
        <p:txBody>
          <a:bodyPr wrap="square" lIns="0" tIns="0" rIns="0" bIns="0" rtlCol="0" anchor="ctr"/>
          <a:lstStyle/>
          <a:p>
            <a:pPr indent="0" marL="0">
              <a:buNone/>
            </a:pPr>
            <a:r>
              <a:rPr lang="en-US" sz="1050" b="1" dirty="0">
                <a:solidFill>
                  <a:srgbClr val="1677BB"/>
                </a:solidFill>
                <a:latin typeface="Aptos" pitchFamily="34" charset="0"/>
                <a:ea typeface="Aptos" pitchFamily="34" charset="-122"/>
                <a:cs typeface="Aptos" pitchFamily="34" charset="-120"/>
              </a:rPr>
              <a:t>DATA</a:t>
            </a:r>
            <a:endParaRPr lang="en-US" sz="1050" dirty="0"/>
          </a:p>
        </p:txBody>
      </p:sp>
      <p:sp>
        <p:nvSpPr>
          <p:cNvPr id="3" name="Text 1"/>
          <p:cNvSpPr/>
          <p:nvPr/>
        </p:nvSpPr>
        <p:spPr>
          <a:xfrm>
            <a:off x="502920" y="530352"/>
            <a:ext cx="11064240" cy="502920"/>
          </a:xfrm>
          <a:prstGeom prst="rect">
            <a:avLst/>
          </a:prstGeom>
          <a:noFill/>
          <a:ln/>
        </p:spPr>
        <p:txBody>
          <a:bodyPr wrap="square" lIns="0" tIns="0" rIns="0" bIns="0" rtlCol="0" anchor="ctr"/>
          <a:lstStyle/>
          <a:p>
            <a:pPr indent="0" marL="0">
              <a:buNone/>
            </a:pPr>
            <a:r>
              <a:rPr lang="en-US" sz="3050" b="1" dirty="0">
                <a:solidFill>
                  <a:srgbClr val="102A43"/>
                </a:solidFill>
                <a:latin typeface="Aptos Display" pitchFamily="34" charset="0"/>
                <a:ea typeface="Aptos Display" pitchFamily="34" charset="-122"/>
                <a:cs typeface="Aptos Display" pitchFamily="34" charset="-120"/>
              </a:rPr>
              <a:t>Dataset</a:t>
            </a:r>
            <a:endParaRPr lang="en-US" sz="3050" dirty="0"/>
          </a:p>
        </p:txBody>
      </p:sp>
      <p:sp>
        <p:nvSpPr>
          <p:cNvPr id="4" name="Shape 2"/>
          <p:cNvSpPr/>
          <p:nvPr/>
        </p:nvSpPr>
        <p:spPr>
          <a:xfrm>
            <a:off x="502920" y="1115568"/>
            <a:ext cx="11064240" cy="0"/>
          </a:xfrm>
          <a:prstGeom prst="line">
            <a:avLst/>
          </a:prstGeom>
          <a:noFill/>
          <a:ln w="12700">
            <a:solidFill>
              <a:srgbClr val="D9E2EC"/>
            </a:solidFill>
            <a:prstDash val="solid"/>
          </a:ln>
        </p:spPr>
      </p:sp>
      <p:sp>
        <p:nvSpPr>
          <p:cNvPr id="5" name="Text 3"/>
          <p:cNvSpPr/>
          <p:nvPr/>
        </p:nvSpPr>
        <p:spPr>
          <a:xfrm>
            <a:off x="640080" y="1481328"/>
            <a:ext cx="1874520" cy="566928"/>
          </a:xfrm>
          <a:prstGeom prst="rect">
            <a:avLst/>
          </a:prstGeom>
          <a:noFill/>
          <a:ln/>
        </p:spPr>
        <p:txBody>
          <a:bodyPr wrap="square" lIns="0" tIns="0" rIns="0" bIns="0" rtlCol="0" anchor="ctr"/>
          <a:lstStyle/>
          <a:p>
            <a:pPr algn="ctr" indent="0" marL="0">
              <a:buNone/>
            </a:pPr>
            <a:r>
              <a:rPr lang="en-US" sz="3000" b="1" dirty="0">
                <a:solidFill>
                  <a:srgbClr val="1677BB"/>
                </a:solidFill>
              </a:rPr>
              <a:t>~9M</a:t>
            </a:r>
            <a:endParaRPr lang="en-US" sz="3000" dirty="0"/>
          </a:p>
        </p:txBody>
      </p:sp>
      <p:sp>
        <p:nvSpPr>
          <p:cNvPr id="6" name="Text 4"/>
          <p:cNvSpPr/>
          <p:nvPr/>
        </p:nvSpPr>
        <p:spPr>
          <a:xfrm>
            <a:off x="640080" y="2057400"/>
            <a:ext cx="1874520" cy="292608"/>
          </a:xfrm>
          <a:prstGeom prst="rect">
            <a:avLst/>
          </a:prstGeom>
          <a:noFill/>
          <a:ln/>
        </p:spPr>
        <p:txBody>
          <a:bodyPr wrap="square" lIns="0" tIns="0" rIns="0" bIns="0" rtlCol="0" anchor="ctr"/>
          <a:lstStyle/>
          <a:p>
            <a:pPr algn="ctr" indent="0" marL="0">
              <a:buNone/>
            </a:pPr>
            <a:r>
              <a:rPr lang="en-US" sz="1350" dirty="0">
                <a:solidFill>
                  <a:srgbClr val="5F6C7B"/>
                </a:solidFill>
              </a:rPr>
              <a:t>landings</a:t>
            </a:r>
            <a:endParaRPr lang="en-US" sz="1350" dirty="0"/>
          </a:p>
        </p:txBody>
      </p:sp>
      <p:sp>
        <p:nvSpPr>
          <p:cNvPr id="7" name="Shape 5"/>
          <p:cNvSpPr/>
          <p:nvPr/>
        </p:nvSpPr>
        <p:spPr>
          <a:xfrm>
            <a:off x="749808" y="2505456"/>
            <a:ext cx="1645920" cy="91440"/>
          </a:xfrm>
          <a:prstGeom prst="arc">
            <a:avLst/>
          </a:prstGeom>
          <a:noFill/>
          <a:ln w="12700">
            <a:solidFill>
              <a:srgbClr val="D9E2EC"/>
            </a:solidFill>
            <a:prstDash val="solid"/>
          </a:ln>
        </p:spPr>
      </p:sp>
      <p:sp>
        <p:nvSpPr>
          <p:cNvPr id="8" name="Text 6"/>
          <p:cNvSpPr/>
          <p:nvPr/>
        </p:nvSpPr>
        <p:spPr>
          <a:xfrm>
            <a:off x="2907792" y="1481328"/>
            <a:ext cx="1874520" cy="566928"/>
          </a:xfrm>
          <a:prstGeom prst="rect">
            <a:avLst/>
          </a:prstGeom>
          <a:noFill/>
          <a:ln/>
        </p:spPr>
        <p:txBody>
          <a:bodyPr wrap="square" lIns="0" tIns="0" rIns="0" bIns="0" rtlCol="0" anchor="ctr"/>
          <a:lstStyle/>
          <a:p>
            <a:pPr algn="ctr" indent="0" marL="0">
              <a:buNone/>
            </a:pPr>
            <a:r>
              <a:rPr lang="en-US" sz="3000" b="1" dirty="0">
                <a:solidFill>
                  <a:srgbClr val="1677BB"/>
                </a:solidFill>
              </a:rPr>
              <a:t>~33K</a:t>
            </a:r>
            <a:endParaRPr lang="en-US" sz="3000" dirty="0"/>
          </a:p>
        </p:txBody>
      </p:sp>
      <p:sp>
        <p:nvSpPr>
          <p:cNvPr id="9" name="Text 7"/>
          <p:cNvSpPr/>
          <p:nvPr/>
        </p:nvSpPr>
        <p:spPr>
          <a:xfrm>
            <a:off x="2907792" y="2057400"/>
            <a:ext cx="1874520" cy="292608"/>
          </a:xfrm>
          <a:prstGeom prst="rect">
            <a:avLst/>
          </a:prstGeom>
          <a:noFill/>
          <a:ln/>
        </p:spPr>
        <p:txBody>
          <a:bodyPr wrap="square" lIns="0" tIns="0" rIns="0" bIns="0" rtlCol="0" anchor="ctr"/>
          <a:lstStyle/>
          <a:p>
            <a:pPr algn="ctr" indent="0" marL="0">
              <a:buNone/>
            </a:pPr>
            <a:r>
              <a:rPr lang="en-US" sz="1350" dirty="0">
                <a:solidFill>
                  <a:srgbClr val="5F6C7B"/>
                </a:solidFill>
              </a:rPr>
              <a:t>go-arounds</a:t>
            </a:r>
            <a:endParaRPr lang="en-US" sz="1350" dirty="0"/>
          </a:p>
        </p:txBody>
      </p:sp>
      <p:sp>
        <p:nvSpPr>
          <p:cNvPr id="10" name="Shape 8"/>
          <p:cNvSpPr/>
          <p:nvPr/>
        </p:nvSpPr>
        <p:spPr>
          <a:xfrm>
            <a:off x="3017520" y="2505456"/>
            <a:ext cx="1645920" cy="91440"/>
          </a:xfrm>
          <a:prstGeom prst="arc">
            <a:avLst/>
          </a:prstGeom>
          <a:noFill/>
          <a:ln w="12700">
            <a:solidFill>
              <a:srgbClr val="D9E2EC"/>
            </a:solidFill>
            <a:prstDash val="solid"/>
          </a:ln>
        </p:spPr>
      </p:sp>
      <p:sp>
        <p:nvSpPr>
          <p:cNvPr id="11" name="Text 9"/>
          <p:cNvSpPr/>
          <p:nvPr/>
        </p:nvSpPr>
        <p:spPr>
          <a:xfrm>
            <a:off x="5175504" y="1481328"/>
            <a:ext cx="1874520" cy="566928"/>
          </a:xfrm>
          <a:prstGeom prst="rect">
            <a:avLst/>
          </a:prstGeom>
          <a:noFill/>
          <a:ln/>
        </p:spPr>
        <p:txBody>
          <a:bodyPr wrap="square" lIns="0" tIns="0" rIns="0" bIns="0" rtlCol="0" anchor="ctr"/>
          <a:lstStyle/>
          <a:p>
            <a:pPr algn="ctr" indent="0" marL="0">
              <a:buNone/>
            </a:pPr>
            <a:r>
              <a:rPr lang="en-US" sz="3000" b="1" dirty="0">
                <a:solidFill>
                  <a:srgbClr val="1677BB"/>
                </a:solidFill>
              </a:rPr>
              <a:t>176</a:t>
            </a:r>
            <a:endParaRPr lang="en-US" sz="3000" dirty="0"/>
          </a:p>
        </p:txBody>
      </p:sp>
      <p:sp>
        <p:nvSpPr>
          <p:cNvPr id="12" name="Text 10"/>
          <p:cNvSpPr/>
          <p:nvPr/>
        </p:nvSpPr>
        <p:spPr>
          <a:xfrm>
            <a:off x="5175504" y="2057400"/>
            <a:ext cx="1874520" cy="292608"/>
          </a:xfrm>
          <a:prstGeom prst="rect">
            <a:avLst/>
          </a:prstGeom>
          <a:noFill/>
          <a:ln/>
        </p:spPr>
        <p:txBody>
          <a:bodyPr wrap="square" lIns="0" tIns="0" rIns="0" bIns="0" rtlCol="0" anchor="ctr"/>
          <a:lstStyle/>
          <a:p>
            <a:pPr algn="ctr" indent="0" marL="0">
              <a:buNone/>
            </a:pPr>
            <a:r>
              <a:rPr lang="en-US" sz="1350" dirty="0">
                <a:solidFill>
                  <a:srgbClr val="5F6C7B"/>
                </a:solidFill>
              </a:rPr>
              <a:t>airports</a:t>
            </a:r>
            <a:endParaRPr lang="en-US" sz="1350" dirty="0"/>
          </a:p>
        </p:txBody>
      </p:sp>
      <p:sp>
        <p:nvSpPr>
          <p:cNvPr id="13" name="Shape 11"/>
          <p:cNvSpPr/>
          <p:nvPr/>
        </p:nvSpPr>
        <p:spPr>
          <a:xfrm>
            <a:off x="5285232" y="2505456"/>
            <a:ext cx="1645920" cy="91440"/>
          </a:xfrm>
          <a:prstGeom prst="arc">
            <a:avLst/>
          </a:prstGeom>
          <a:noFill/>
          <a:ln w="12700">
            <a:solidFill>
              <a:srgbClr val="D9E2EC"/>
            </a:solidFill>
            <a:prstDash val="solid"/>
          </a:ln>
        </p:spPr>
      </p:sp>
      <p:sp>
        <p:nvSpPr>
          <p:cNvPr id="14" name="Text 12"/>
          <p:cNvSpPr/>
          <p:nvPr/>
        </p:nvSpPr>
        <p:spPr>
          <a:xfrm>
            <a:off x="7443216" y="1481328"/>
            <a:ext cx="1874520" cy="566928"/>
          </a:xfrm>
          <a:prstGeom prst="rect">
            <a:avLst/>
          </a:prstGeom>
          <a:noFill/>
          <a:ln/>
        </p:spPr>
        <p:txBody>
          <a:bodyPr wrap="square" lIns="0" tIns="0" rIns="0" bIns="0" rtlCol="0" anchor="ctr"/>
          <a:lstStyle/>
          <a:p>
            <a:pPr algn="ctr" indent="0" marL="0">
              <a:buNone/>
            </a:pPr>
            <a:r>
              <a:rPr lang="en-US" sz="3000" b="1" dirty="0">
                <a:solidFill>
                  <a:srgbClr val="1677BB"/>
                </a:solidFill>
              </a:rPr>
              <a:t>44</a:t>
            </a:r>
            <a:endParaRPr lang="en-US" sz="3000" dirty="0"/>
          </a:p>
        </p:txBody>
      </p:sp>
      <p:sp>
        <p:nvSpPr>
          <p:cNvPr id="15" name="Text 13"/>
          <p:cNvSpPr/>
          <p:nvPr/>
        </p:nvSpPr>
        <p:spPr>
          <a:xfrm>
            <a:off x="7443216" y="2057400"/>
            <a:ext cx="1874520" cy="292608"/>
          </a:xfrm>
          <a:prstGeom prst="rect">
            <a:avLst/>
          </a:prstGeom>
          <a:noFill/>
          <a:ln/>
        </p:spPr>
        <p:txBody>
          <a:bodyPr wrap="square" lIns="0" tIns="0" rIns="0" bIns="0" rtlCol="0" anchor="ctr"/>
          <a:lstStyle/>
          <a:p>
            <a:pPr algn="ctr" indent="0" marL="0">
              <a:buNone/>
            </a:pPr>
            <a:r>
              <a:rPr lang="en-US" sz="1350" dirty="0">
                <a:solidFill>
                  <a:srgbClr val="5F6C7B"/>
                </a:solidFill>
              </a:rPr>
              <a:t>countries</a:t>
            </a:r>
            <a:endParaRPr lang="en-US" sz="1350" dirty="0"/>
          </a:p>
        </p:txBody>
      </p:sp>
      <p:sp>
        <p:nvSpPr>
          <p:cNvPr id="16" name="Shape 14"/>
          <p:cNvSpPr/>
          <p:nvPr/>
        </p:nvSpPr>
        <p:spPr>
          <a:xfrm>
            <a:off x="7552944" y="2505456"/>
            <a:ext cx="1645920" cy="91440"/>
          </a:xfrm>
          <a:prstGeom prst="arc">
            <a:avLst/>
          </a:prstGeom>
          <a:noFill/>
          <a:ln w="12700">
            <a:solidFill>
              <a:srgbClr val="D9E2EC"/>
            </a:solidFill>
            <a:prstDash val="solid"/>
          </a:ln>
        </p:spPr>
      </p:sp>
      <p:sp>
        <p:nvSpPr>
          <p:cNvPr id="17" name="Text 15"/>
          <p:cNvSpPr/>
          <p:nvPr/>
        </p:nvSpPr>
        <p:spPr>
          <a:xfrm>
            <a:off x="9710928" y="1481328"/>
            <a:ext cx="1874520" cy="566928"/>
          </a:xfrm>
          <a:prstGeom prst="rect">
            <a:avLst/>
          </a:prstGeom>
          <a:noFill/>
          <a:ln/>
        </p:spPr>
        <p:txBody>
          <a:bodyPr wrap="square" lIns="0" tIns="0" rIns="0" bIns="0" rtlCol="0" anchor="ctr"/>
          <a:lstStyle/>
          <a:p>
            <a:pPr algn="ctr" indent="0" marL="0">
              <a:buNone/>
            </a:pPr>
            <a:r>
              <a:rPr lang="en-US" sz="3000" b="1" dirty="0">
                <a:solidFill>
                  <a:srgbClr val="1677BB"/>
                </a:solidFill>
              </a:rPr>
              <a:t>2019</a:t>
            </a:r>
            <a:endParaRPr lang="en-US" sz="3000" dirty="0"/>
          </a:p>
        </p:txBody>
      </p:sp>
      <p:sp>
        <p:nvSpPr>
          <p:cNvPr id="18" name="Text 16"/>
          <p:cNvSpPr/>
          <p:nvPr/>
        </p:nvSpPr>
        <p:spPr>
          <a:xfrm>
            <a:off x="9710928" y="2057400"/>
            <a:ext cx="1874520" cy="292608"/>
          </a:xfrm>
          <a:prstGeom prst="rect">
            <a:avLst/>
          </a:prstGeom>
          <a:noFill/>
          <a:ln/>
        </p:spPr>
        <p:txBody>
          <a:bodyPr wrap="square" lIns="0" tIns="0" rIns="0" bIns="0" rtlCol="0" anchor="ctr"/>
          <a:lstStyle/>
          <a:p>
            <a:pPr algn="ctr" indent="0" marL="0">
              <a:buNone/>
            </a:pPr>
            <a:r>
              <a:rPr lang="en-US" sz="1350" dirty="0">
                <a:solidFill>
                  <a:srgbClr val="5F6C7B"/>
                </a:solidFill>
              </a:rPr>
              <a:t>full year</a:t>
            </a:r>
            <a:endParaRPr lang="en-US" sz="1350" dirty="0"/>
          </a:p>
        </p:txBody>
      </p:sp>
      <p:sp>
        <p:nvSpPr>
          <p:cNvPr id="19" name="Shape 17"/>
          <p:cNvSpPr/>
          <p:nvPr/>
        </p:nvSpPr>
        <p:spPr>
          <a:xfrm>
            <a:off x="9820656" y="2505456"/>
            <a:ext cx="1645920" cy="91440"/>
          </a:xfrm>
          <a:prstGeom prst="arc">
            <a:avLst/>
          </a:prstGeom>
          <a:noFill/>
          <a:ln w="12700">
            <a:solidFill>
              <a:srgbClr val="D9E2EC"/>
            </a:solidFill>
            <a:prstDash val="solid"/>
          </a:ln>
        </p:spPr>
      </p:sp>
      <p:sp>
        <p:nvSpPr>
          <p:cNvPr id="20" name="Text 18"/>
          <p:cNvSpPr/>
          <p:nvPr/>
        </p:nvSpPr>
        <p:spPr>
          <a:xfrm>
            <a:off x="640080" y="2852928"/>
            <a:ext cx="10972800" cy="594360"/>
          </a:xfrm>
          <a:prstGeom prst="rect">
            <a:avLst/>
          </a:prstGeom>
          <a:solidFill>
            <a:srgbClr val="EAF4FF"/>
          </a:solidFill>
          <a:ln w="13970">
            <a:solidFill>
              <a:srgbClr val="1677BB"/>
            </a:solidFill>
          </a:ln>
        </p:spPr>
        <p:txBody>
          <a:bodyPr wrap="square" lIns="1651" tIns="1651" rIns="1651" bIns="1651" rtlCol="0" anchor="ctr">
            <a:normAutofit/>
          </a:bodyPr>
          <a:lstStyle/>
          <a:p>
            <a:pPr indent="0" marL="0">
              <a:buNone/>
            </a:pPr>
            <a:r>
              <a:rPr lang="en-US" sz="1520" dirty="0">
                <a:solidFill>
                  <a:srgbClr val="102A43"/>
                </a:solidFill>
              </a:rPr>
              <a:t>Source: Monstein et al. (2022) — Large Landing Trajectory Dataset for Go-Around Analysis</a:t>
            </a:r>
            <a:endParaRPr lang="en-US" sz="1520" dirty="0"/>
          </a:p>
          <a:p>
            <a:pPr indent="0" marL="0">
              <a:buNone/>
            </a:pPr>
            <a:r>
              <a:rPr lang="en-US" sz="1520" dirty="0">
                <a:solidFill>
                  <a:srgbClr val="102A43"/>
                </a:solidFill>
              </a:rPr>
              <a:t>File: go_arounds_augmented.csv.gz</a:t>
            </a:r>
            <a:endParaRPr lang="en-US" sz="1520" dirty="0"/>
          </a:p>
        </p:txBody>
      </p:sp>
      <p:sp>
        <p:nvSpPr>
          <p:cNvPr id="21" name="Shape 19"/>
          <p:cNvSpPr/>
          <p:nvPr/>
        </p:nvSpPr>
        <p:spPr>
          <a:xfrm>
            <a:off x="1609344" y="4599432"/>
            <a:ext cx="8961120" cy="0"/>
          </a:xfrm>
          <a:prstGeom prst="line">
            <a:avLst/>
          </a:prstGeom>
          <a:noFill/>
          <a:ln w="38100">
            <a:solidFill>
              <a:srgbClr val="D9E2EC"/>
            </a:solidFill>
            <a:prstDash val="solid"/>
            <a:headEnd type="none"/>
            <a:tailEnd type="triangle"/>
          </a:ln>
        </p:spPr>
      </p:sp>
      <p:sp>
        <p:nvSpPr>
          <p:cNvPr id="22" name="Text 20"/>
          <p:cNvSpPr/>
          <p:nvPr/>
        </p:nvSpPr>
        <p:spPr>
          <a:xfrm>
            <a:off x="914400" y="4041648"/>
            <a:ext cx="2788920" cy="1078992"/>
          </a:xfrm>
          <a:prstGeom prst="rect">
            <a:avLst/>
          </a:prstGeom>
          <a:solidFill>
            <a:srgbClr val="E8F5EE"/>
          </a:solidFill>
          <a:ln w="17780">
            <a:solidFill>
              <a:srgbClr val="2E8B57"/>
            </a:solidFill>
          </a:ln>
        </p:spPr>
        <p:txBody>
          <a:bodyPr wrap="square" lIns="635" tIns="635" rIns="635" bIns="635" rtlCol="0" anchor="ctr">
            <a:normAutofit/>
          </a:bodyPr>
          <a:lstStyle/>
          <a:p>
            <a:pPr algn="ctr" indent="0" marL="0">
              <a:buNone/>
            </a:pPr>
            <a:r>
              <a:rPr lang="en-US" sz="1550" b="1" dirty="0">
                <a:solidFill>
                  <a:srgbClr val="102A43"/>
                </a:solidFill>
              </a:rPr>
              <a:t>Jan–Aug 2019</a:t>
            </a:r>
            <a:endParaRPr lang="en-US" sz="1550" dirty="0"/>
          </a:p>
          <a:p>
            <a:pPr algn="ctr" indent="0" marL="0">
              <a:buNone/>
            </a:pPr>
            <a:r>
              <a:rPr lang="en-US" sz="1550" b="1" dirty="0">
                <a:solidFill>
                  <a:srgbClr val="102A43"/>
                </a:solidFill>
              </a:rPr>
              <a:t>TRAINING</a:t>
            </a:r>
            <a:endParaRPr lang="en-US" sz="1550" dirty="0"/>
          </a:p>
          <a:p>
            <a:pPr algn="ctr" indent="0" marL="0">
              <a:buNone/>
            </a:pPr>
            <a:r>
              <a:rPr lang="en-US" sz="1550" b="1" dirty="0">
                <a:solidFill>
                  <a:srgbClr val="102A43"/>
                </a:solidFill>
              </a:rPr>
              <a:t>5.66M rows</a:t>
            </a:r>
            <a:endParaRPr lang="en-US" sz="1550" dirty="0"/>
          </a:p>
        </p:txBody>
      </p:sp>
      <p:sp>
        <p:nvSpPr>
          <p:cNvPr id="23" name="Text 21"/>
          <p:cNvSpPr/>
          <p:nvPr/>
        </p:nvSpPr>
        <p:spPr>
          <a:xfrm>
            <a:off x="4617720" y="4041648"/>
            <a:ext cx="2788920" cy="1078992"/>
          </a:xfrm>
          <a:prstGeom prst="rect">
            <a:avLst/>
          </a:prstGeom>
          <a:solidFill>
            <a:srgbClr val="FFF1E3"/>
          </a:solidFill>
          <a:ln w="17780">
            <a:solidFill>
              <a:srgbClr val="F28C28"/>
            </a:solidFill>
          </a:ln>
        </p:spPr>
        <p:txBody>
          <a:bodyPr wrap="square" lIns="635" tIns="635" rIns="635" bIns="635" rtlCol="0" anchor="ctr">
            <a:normAutofit/>
          </a:bodyPr>
          <a:lstStyle/>
          <a:p>
            <a:pPr algn="ctr" indent="0" marL="0">
              <a:buNone/>
            </a:pPr>
            <a:r>
              <a:rPr lang="en-US" sz="1550" b="1" dirty="0">
                <a:solidFill>
                  <a:srgbClr val="102A43"/>
                </a:solidFill>
              </a:rPr>
              <a:t>Sep–Oct 2019</a:t>
            </a:r>
            <a:endParaRPr lang="en-US" sz="1550" dirty="0"/>
          </a:p>
          <a:p>
            <a:pPr algn="ctr" indent="0" marL="0">
              <a:buNone/>
            </a:pPr>
            <a:r>
              <a:rPr lang="en-US" sz="1550" b="1" dirty="0">
                <a:solidFill>
                  <a:srgbClr val="102A43"/>
                </a:solidFill>
              </a:rPr>
              <a:t>VALIDATION</a:t>
            </a:r>
            <a:endParaRPr lang="en-US" sz="1550" dirty="0"/>
          </a:p>
          <a:p>
            <a:pPr algn="ctr" indent="0" marL="0">
              <a:buNone/>
            </a:pPr>
            <a:r>
              <a:rPr lang="en-US" sz="1550" b="1" dirty="0">
                <a:solidFill>
                  <a:srgbClr val="102A43"/>
                </a:solidFill>
              </a:rPr>
              <a:t>1.65M rows</a:t>
            </a:r>
            <a:endParaRPr lang="en-US" sz="1550" dirty="0"/>
          </a:p>
        </p:txBody>
      </p:sp>
      <p:sp>
        <p:nvSpPr>
          <p:cNvPr id="24" name="Text 22"/>
          <p:cNvSpPr/>
          <p:nvPr/>
        </p:nvSpPr>
        <p:spPr>
          <a:xfrm>
            <a:off x="8321040" y="4041648"/>
            <a:ext cx="2788920" cy="1078992"/>
          </a:xfrm>
          <a:prstGeom prst="rect">
            <a:avLst/>
          </a:prstGeom>
          <a:solidFill>
            <a:srgbClr val="EAF4FF"/>
          </a:solidFill>
          <a:ln w="17780">
            <a:solidFill>
              <a:srgbClr val="1677BB"/>
            </a:solidFill>
          </a:ln>
        </p:spPr>
        <p:txBody>
          <a:bodyPr wrap="square" lIns="635" tIns="635" rIns="635" bIns="635" rtlCol="0" anchor="ctr">
            <a:normAutofit/>
          </a:bodyPr>
          <a:lstStyle/>
          <a:p>
            <a:pPr algn="ctr" indent="0" marL="0">
              <a:buNone/>
            </a:pPr>
            <a:r>
              <a:rPr lang="en-US" sz="1550" b="1" dirty="0">
                <a:solidFill>
                  <a:srgbClr val="102A43"/>
                </a:solidFill>
              </a:rPr>
              <a:t>Nov–Dec 2019</a:t>
            </a:r>
            <a:endParaRPr lang="en-US" sz="1550" dirty="0"/>
          </a:p>
          <a:p>
            <a:pPr algn="ctr" indent="0" marL="0">
              <a:buNone/>
            </a:pPr>
            <a:r>
              <a:rPr lang="en-US" sz="1550" b="1" dirty="0">
                <a:solidFill>
                  <a:srgbClr val="102A43"/>
                </a:solidFill>
              </a:rPr>
              <a:t>TEST</a:t>
            </a:r>
            <a:endParaRPr lang="en-US" sz="1550" dirty="0"/>
          </a:p>
          <a:p>
            <a:pPr algn="ctr" indent="0" marL="0">
              <a:buNone/>
            </a:pPr>
            <a:r>
              <a:rPr lang="en-US" sz="1550" b="1" dirty="0">
                <a:solidFill>
                  <a:srgbClr val="102A43"/>
                </a:solidFill>
              </a:rPr>
              <a:t>1.65M rows</a:t>
            </a:r>
            <a:endParaRPr lang="en-US" sz="1550" dirty="0"/>
          </a:p>
        </p:txBody>
      </p:sp>
      <p:sp>
        <p:nvSpPr>
          <p:cNvPr id="25" name="Text 23"/>
          <p:cNvSpPr/>
          <p:nvPr/>
        </p:nvSpPr>
        <p:spPr>
          <a:xfrm>
            <a:off x="1024128" y="5532120"/>
            <a:ext cx="10058400" cy="320040"/>
          </a:xfrm>
          <a:prstGeom prst="rect">
            <a:avLst/>
          </a:prstGeom>
          <a:noFill/>
          <a:ln/>
        </p:spPr>
        <p:txBody>
          <a:bodyPr wrap="square" lIns="0" tIns="0" rIns="0" bIns="0" rtlCol="0" anchor="ctr"/>
          <a:lstStyle/>
          <a:p>
            <a:pPr algn="ctr" indent="0" marL="0">
              <a:buNone/>
            </a:pPr>
            <a:r>
              <a:rPr lang="en-US" sz="1750" b="1" dirty="0">
                <a:solidFill>
                  <a:srgbClr val="102A43"/>
                </a:solidFill>
              </a:rPr>
              <a:t>Strict temporal split prevents future information leaking into training.</a:t>
            </a:r>
            <a:endParaRPr lang="en-US" sz="1750" dirty="0"/>
          </a:p>
        </p:txBody>
      </p:sp>
      <p:sp>
        <p:nvSpPr>
          <p:cNvPr id="26" name="Text 24"/>
          <p:cNvSpPr/>
          <p:nvPr/>
        </p:nvSpPr>
        <p:spPr>
          <a:xfrm>
            <a:off x="502920" y="6519672"/>
            <a:ext cx="11155680" cy="228600"/>
          </a:xfrm>
          <a:prstGeom prst="rect">
            <a:avLst/>
          </a:prstGeom>
          <a:noFill/>
          <a:ln/>
        </p:spPr>
        <p:txBody>
          <a:bodyPr wrap="square" lIns="0" tIns="0" rIns="0" bIns="0" rtlCol="0" anchor="ctr"/>
          <a:lstStyle/>
          <a:p>
            <a:pPr algn="r" indent="0" marL="0">
              <a:buNone/>
            </a:pPr>
            <a:r>
              <a:rPr lang="en-US" sz="850" dirty="0">
                <a:solidFill>
                  <a:srgbClr val="718096"/>
                </a:solidFill>
              </a:rPr>
              <a:t>BBL514E Pattern Recognition  |  Go-Around Classification  |  3/10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4389120" cy="219456"/>
          </a:xfrm>
          <a:prstGeom prst="rect">
            <a:avLst/>
          </a:prstGeom>
          <a:noFill/>
          <a:ln/>
        </p:spPr>
        <p:txBody>
          <a:bodyPr wrap="square" lIns="0" tIns="0" rIns="0" bIns="0" rtlCol="0" anchor="ctr"/>
          <a:lstStyle/>
          <a:p>
            <a:pPr indent="0" marL="0">
              <a:buNone/>
            </a:pPr>
            <a:r>
              <a:rPr lang="en-US" sz="1050" b="1" dirty="0">
                <a:solidFill>
                  <a:srgbClr val="1677BB"/>
                </a:solidFill>
                <a:latin typeface="Aptos" pitchFamily="34" charset="0"/>
                <a:ea typeface="Aptos" pitchFamily="34" charset="-122"/>
                <a:cs typeface="Aptos" pitchFamily="34" charset="-120"/>
              </a:rPr>
              <a:t>METHOD</a:t>
            </a:r>
            <a:endParaRPr lang="en-US" sz="1050" dirty="0"/>
          </a:p>
        </p:txBody>
      </p:sp>
      <p:sp>
        <p:nvSpPr>
          <p:cNvPr id="3" name="Text 1"/>
          <p:cNvSpPr/>
          <p:nvPr/>
        </p:nvSpPr>
        <p:spPr>
          <a:xfrm>
            <a:off x="502920" y="530352"/>
            <a:ext cx="11064240" cy="502920"/>
          </a:xfrm>
          <a:prstGeom prst="rect">
            <a:avLst/>
          </a:prstGeom>
          <a:noFill/>
          <a:ln/>
        </p:spPr>
        <p:txBody>
          <a:bodyPr wrap="square" lIns="0" tIns="0" rIns="0" bIns="0" rtlCol="0" anchor="ctr"/>
          <a:lstStyle/>
          <a:p>
            <a:pPr indent="0" marL="0">
              <a:buNone/>
            </a:pPr>
            <a:r>
              <a:rPr lang="en-US" sz="3050" b="1" dirty="0">
                <a:solidFill>
                  <a:srgbClr val="102A43"/>
                </a:solidFill>
                <a:latin typeface="Aptos Display" pitchFamily="34" charset="0"/>
                <a:ea typeface="Aptos Display" pitchFamily="34" charset="-122"/>
                <a:cs typeface="Aptos Display" pitchFamily="34" charset="-120"/>
              </a:rPr>
              <a:t>Feature Engineering — Two Feature Sets</a:t>
            </a:r>
            <a:endParaRPr lang="en-US" sz="3050" dirty="0"/>
          </a:p>
        </p:txBody>
      </p:sp>
      <p:sp>
        <p:nvSpPr>
          <p:cNvPr id="4" name="Shape 2"/>
          <p:cNvSpPr/>
          <p:nvPr/>
        </p:nvSpPr>
        <p:spPr>
          <a:xfrm>
            <a:off x="502920" y="1115568"/>
            <a:ext cx="11064240" cy="0"/>
          </a:xfrm>
          <a:prstGeom prst="line">
            <a:avLst/>
          </a:prstGeom>
          <a:noFill/>
          <a:ln w="12700">
            <a:solidFill>
              <a:srgbClr val="D9E2EC"/>
            </a:solidFill>
            <a:prstDash val="solid"/>
          </a:ln>
        </p:spPr>
      </p:sp>
      <p:sp>
        <p:nvSpPr>
          <p:cNvPr id="5" name="Text 3"/>
          <p:cNvSpPr/>
          <p:nvPr/>
        </p:nvSpPr>
        <p:spPr>
          <a:xfrm>
            <a:off x="822960" y="1444752"/>
            <a:ext cx="4983480" cy="685800"/>
          </a:xfrm>
          <a:prstGeom prst="rect">
            <a:avLst/>
          </a:prstGeom>
          <a:solidFill>
            <a:srgbClr val="EAF4FF"/>
          </a:solidFill>
          <a:ln w="15240">
            <a:solidFill>
              <a:srgbClr val="1677BB"/>
            </a:solidFill>
          </a:ln>
        </p:spPr>
        <p:txBody>
          <a:bodyPr wrap="square" lIns="762" tIns="762" rIns="762" bIns="762" rtlCol="0" anchor="ctr"/>
          <a:lstStyle/>
          <a:p>
            <a:pPr indent="0" marL="0">
              <a:buNone/>
            </a:pPr>
            <a:r>
              <a:rPr lang="en-US" sz="2400" b="1" dirty="0">
                <a:solidFill>
                  <a:srgbClr val="102A43"/>
                </a:solidFill>
              </a:rPr>
              <a:t>Context Only</a:t>
            </a:r>
            <a:endParaRPr lang="en-US" sz="2400" dirty="0"/>
          </a:p>
          <a:p>
            <a:pPr indent="0" marL="0">
              <a:buNone/>
            </a:pPr>
            <a:r>
              <a:rPr lang="en-US" sz="2400" b="1" dirty="0">
                <a:solidFill>
                  <a:srgbClr val="102A43"/>
                </a:solidFill>
              </a:rPr>
              <a:t>15 features</a:t>
            </a:r>
            <a:endParaRPr lang="en-US" sz="2400" dirty="0"/>
          </a:p>
        </p:txBody>
      </p:sp>
      <p:sp>
        <p:nvSpPr>
          <p:cNvPr id="6" name="Text 4"/>
          <p:cNvSpPr/>
          <p:nvPr/>
        </p:nvSpPr>
        <p:spPr>
          <a:xfrm>
            <a:off x="941832" y="2331720"/>
            <a:ext cx="4754880" cy="1463040"/>
          </a:xfrm>
          <a:prstGeom prst="rect">
            <a:avLst/>
          </a:prstGeom>
          <a:noFill/>
          <a:ln/>
        </p:spPr>
        <p:txBody>
          <a:bodyPr wrap="square" lIns="254" tIns="254" rIns="254" bIns="254" rtlCol="0" anchor="ctr"/>
          <a:lstStyle/>
          <a:p>
            <a:pPr marL="177800" indent="-177800">
              <a:buSzPct val="100000"/>
              <a:buChar char="•"/>
            </a:pPr>
            <a:r>
              <a:rPr lang="en-US" sz="1750" dirty="0">
                <a:solidFill>
                  <a:srgbClr val="102A43"/>
                </a:solidFill>
              </a:rPr>
              <a:t>Airport, runway, aircraft type</a:t>
            </a:r>
            <a:endParaRPr lang="en-US" sz="1750" dirty="0"/>
          </a:p>
          <a:p>
            <a:pPr marL="177800" indent="-177800">
              <a:buSzPct val="100000"/>
              <a:buChar char="•"/>
            </a:pPr>
            <a:r>
              <a:rPr lang="en-US" sz="1750" dirty="0">
                <a:solidFill>
                  <a:srgbClr val="102A43"/>
                </a:solidFill>
              </a:rPr>
              <a:t>Wake turbulence category</a:t>
            </a:r>
            <a:endParaRPr lang="en-US" sz="1750" dirty="0"/>
          </a:p>
          <a:p>
            <a:pPr marL="177800" indent="-177800">
              <a:buSzPct val="100000"/>
              <a:buChar char="•"/>
            </a:pPr>
            <a:r>
              <a:rPr lang="en-US" sz="1750" dirty="0">
                <a:solidFill>
                  <a:srgbClr val="102A43"/>
                </a:solidFill>
              </a:rPr>
              <a:t>Glide slope angle, runway length</a:t>
            </a:r>
            <a:endParaRPr lang="en-US" sz="1750" dirty="0"/>
          </a:p>
          <a:p>
            <a:pPr marL="177800" indent="-177800">
              <a:buSzPct val="100000"/>
              <a:buChar char="•"/>
            </a:pPr>
            <a:r>
              <a:rPr lang="en-US" sz="1750" dirty="0">
                <a:solidFill>
                  <a:srgbClr val="102A43"/>
                </a:solidFill>
              </a:rPr>
              <a:t>Month, day of week, hour (UTC)</a:t>
            </a:r>
            <a:endParaRPr lang="en-US" sz="1750" dirty="0"/>
          </a:p>
        </p:txBody>
      </p:sp>
      <p:sp>
        <p:nvSpPr>
          <p:cNvPr id="7" name="Text 5"/>
          <p:cNvSpPr/>
          <p:nvPr/>
        </p:nvSpPr>
        <p:spPr>
          <a:xfrm>
            <a:off x="6355080" y="1444752"/>
            <a:ext cx="4983480" cy="685800"/>
          </a:xfrm>
          <a:prstGeom prst="rect">
            <a:avLst/>
          </a:prstGeom>
          <a:solidFill>
            <a:srgbClr val="FFF1E3"/>
          </a:solidFill>
          <a:ln w="15240">
            <a:solidFill>
              <a:srgbClr val="F28C28"/>
            </a:solidFill>
          </a:ln>
        </p:spPr>
        <p:txBody>
          <a:bodyPr wrap="square" lIns="762" tIns="762" rIns="762" bIns="762" rtlCol="0" anchor="ctr"/>
          <a:lstStyle/>
          <a:p>
            <a:pPr indent="0" marL="0">
              <a:buNone/>
            </a:pPr>
            <a:r>
              <a:rPr lang="en-US" sz="2400" b="1" dirty="0">
                <a:solidFill>
                  <a:srgbClr val="102A43"/>
                </a:solidFill>
              </a:rPr>
              <a:t>Context + METAR</a:t>
            </a:r>
            <a:endParaRPr lang="en-US" sz="2400" dirty="0"/>
          </a:p>
          <a:p>
            <a:pPr indent="0" marL="0">
              <a:buNone/>
            </a:pPr>
            <a:r>
              <a:rPr lang="en-US" sz="2400" b="1" dirty="0">
                <a:solidFill>
                  <a:srgbClr val="102A43"/>
                </a:solidFill>
              </a:rPr>
              <a:t>27 features</a:t>
            </a:r>
            <a:endParaRPr lang="en-US" sz="2400" dirty="0"/>
          </a:p>
        </p:txBody>
      </p:sp>
      <p:sp>
        <p:nvSpPr>
          <p:cNvPr id="8" name="Text 6"/>
          <p:cNvSpPr/>
          <p:nvPr/>
        </p:nvSpPr>
        <p:spPr>
          <a:xfrm>
            <a:off x="6473952" y="2331720"/>
            <a:ext cx="4754880" cy="1463040"/>
          </a:xfrm>
          <a:prstGeom prst="rect">
            <a:avLst/>
          </a:prstGeom>
          <a:noFill/>
          <a:ln/>
        </p:spPr>
        <p:txBody>
          <a:bodyPr wrap="square" lIns="254" tIns="254" rIns="254" bIns="254" rtlCol="0" anchor="ctr"/>
          <a:lstStyle/>
          <a:p>
            <a:pPr marL="177800" indent="-177800">
              <a:buSzPct val="100000"/>
              <a:buChar char="•"/>
            </a:pPr>
            <a:r>
              <a:rPr lang="en-US" sz="1750" dirty="0">
                <a:solidFill>
                  <a:srgbClr val="102A43"/>
                </a:solidFill>
              </a:rPr>
              <a:t>Context features + weather</a:t>
            </a:r>
            <a:endParaRPr lang="en-US" sz="1750" dirty="0"/>
          </a:p>
          <a:p>
            <a:pPr marL="177800" indent="-177800">
              <a:buSzPct val="100000"/>
              <a:buChar char="•"/>
            </a:pPr>
            <a:r>
              <a:rPr lang="en-US" sz="1750" dirty="0">
                <a:solidFill>
                  <a:srgbClr val="102A43"/>
                </a:solidFill>
              </a:rPr>
              <a:t>Wind speed, direction, gusts</a:t>
            </a:r>
            <a:endParaRPr lang="en-US" sz="1750" dirty="0"/>
          </a:p>
          <a:p>
            <a:pPr marL="177800" indent="-177800">
              <a:buSzPct val="100000"/>
              <a:buChar char="•"/>
            </a:pPr>
            <a:r>
              <a:rPr lang="en-US" sz="1750" dirty="0">
                <a:solidFill>
                  <a:srgbClr val="102A43"/>
                </a:solidFill>
              </a:rPr>
              <a:t>Visibility, temperature, pressure</a:t>
            </a:r>
            <a:endParaRPr lang="en-US" sz="1750" dirty="0"/>
          </a:p>
          <a:p>
            <a:pPr marL="177800" indent="-177800">
              <a:buSzPct val="100000"/>
              <a:buChar char="•"/>
            </a:pPr>
            <a:r>
              <a:rPr lang="en-US" sz="1750" dirty="0">
                <a:solidFill>
                  <a:srgbClr val="102A43"/>
                </a:solidFill>
              </a:rPr>
              <a:t>Weather codes: fog, rain, snow…</a:t>
            </a:r>
            <a:endParaRPr lang="en-US" sz="1750" dirty="0"/>
          </a:p>
        </p:txBody>
      </p:sp>
      <p:sp>
        <p:nvSpPr>
          <p:cNvPr id="9" name="Shape 7"/>
          <p:cNvSpPr/>
          <p:nvPr/>
        </p:nvSpPr>
        <p:spPr>
          <a:xfrm>
            <a:off x="6089904" y="1481328"/>
            <a:ext cx="0" cy="2743200"/>
          </a:xfrm>
          <a:prstGeom prst="line">
            <a:avLst/>
          </a:prstGeom>
          <a:noFill/>
          <a:ln w="19050">
            <a:solidFill>
              <a:srgbClr val="D9E2EC"/>
            </a:solidFill>
            <a:prstDash val="solid"/>
          </a:ln>
        </p:spPr>
      </p:sp>
      <p:sp>
        <p:nvSpPr>
          <p:cNvPr id="10" name="Text 8"/>
          <p:cNvSpPr/>
          <p:nvPr/>
        </p:nvSpPr>
        <p:spPr>
          <a:xfrm>
            <a:off x="914400" y="4754880"/>
            <a:ext cx="10378440" cy="658368"/>
          </a:xfrm>
          <a:prstGeom prst="rect">
            <a:avLst/>
          </a:prstGeom>
          <a:solidFill>
            <a:srgbClr val="FFF5F5"/>
          </a:solidFill>
          <a:ln w="13970">
            <a:solidFill>
              <a:srgbClr val="D64545"/>
            </a:solidFill>
          </a:ln>
        </p:spPr>
        <p:txBody>
          <a:bodyPr wrap="square" lIns="1651" tIns="1651" rIns="1651" bIns="1651" rtlCol="0" anchor="ctr">
            <a:normAutofit/>
          </a:bodyPr>
          <a:lstStyle/>
          <a:p>
            <a:pPr indent="0" marL="0">
              <a:buNone/>
            </a:pPr>
            <a:r>
              <a:rPr lang="en-US" sz="1720" dirty="0">
                <a:solidFill>
                  <a:srgbClr val="102A43"/>
                </a:solidFill>
              </a:rPr>
              <a:t>Leakage removed: n_approaches excluded because it counts total approaches per flight and post-hoc reveals the go-around.</a:t>
            </a:r>
            <a:endParaRPr lang="en-US" sz="1720" dirty="0"/>
          </a:p>
        </p:txBody>
      </p:sp>
      <p:sp>
        <p:nvSpPr>
          <p:cNvPr id="11" name="Text 9"/>
          <p:cNvSpPr/>
          <p:nvPr/>
        </p:nvSpPr>
        <p:spPr>
          <a:xfrm>
            <a:off x="960120" y="5715000"/>
            <a:ext cx="10241280" cy="320040"/>
          </a:xfrm>
          <a:prstGeom prst="rect">
            <a:avLst/>
          </a:prstGeom>
          <a:noFill/>
          <a:ln/>
        </p:spPr>
        <p:txBody>
          <a:bodyPr wrap="square" lIns="0" tIns="0" rIns="0" bIns="0" rtlCol="0" anchor="ctr"/>
          <a:lstStyle/>
          <a:p>
            <a:pPr algn="ctr" indent="0" marL="0">
              <a:buNone/>
            </a:pPr>
            <a:r>
              <a:rPr lang="en-US" sz="1700" b="1" dirty="0">
                <a:solidFill>
                  <a:srgbClr val="102A43"/>
                </a:solidFill>
              </a:rPr>
              <a:t>Ablation question: how much does weather improve prediction beyond operational context?</a:t>
            </a:r>
            <a:endParaRPr lang="en-US" sz="1700" dirty="0"/>
          </a:p>
        </p:txBody>
      </p:sp>
      <p:sp>
        <p:nvSpPr>
          <p:cNvPr id="12" name="Text 10"/>
          <p:cNvSpPr/>
          <p:nvPr/>
        </p:nvSpPr>
        <p:spPr>
          <a:xfrm>
            <a:off x="502920" y="6519672"/>
            <a:ext cx="11155680" cy="228600"/>
          </a:xfrm>
          <a:prstGeom prst="rect">
            <a:avLst/>
          </a:prstGeom>
          <a:noFill/>
          <a:ln/>
        </p:spPr>
        <p:txBody>
          <a:bodyPr wrap="square" lIns="0" tIns="0" rIns="0" bIns="0" rtlCol="0" anchor="ctr"/>
          <a:lstStyle/>
          <a:p>
            <a:pPr algn="r" indent="0" marL="0">
              <a:buNone/>
            </a:pPr>
            <a:r>
              <a:rPr lang="en-US" sz="850" dirty="0">
                <a:solidFill>
                  <a:srgbClr val="718096"/>
                </a:solidFill>
              </a:rPr>
              <a:t>BBL514E Pattern Recognition  |  Go-Around Classification  |  4/10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4389120" cy="219456"/>
          </a:xfrm>
          <a:prstGeom prst="rect">
            <a:avLst/>
          </a:prstGeom>
          <a:noFill/>
          <a:ln/>
        </p:spPr>
        <p:txBody>
          <a:bodyPr wrap="square" lIns="0" tIns="0" rIns="0" bIns="0" rtlCol="0" anchor="ctr"/>
          <a:lstStyle/>
          <a:p>
            <a:pPr indent="0" marL="0">
              <a:buNone/>
            </a:pPr>
            <a:r>
              <a:rPr lang="en-US" sz="1050" b="1" dirty="0">
                <a:solidFill>
                  <a:srgbClr val="1677BB"/>
                </a:solidFill>
                <a:latin typeface="Aptos" pitchFamily="34" charset="0"/>
                <a:ea typeface="Aptos" pitchFamily="34" charset="-122"/>
                <a:cs typeface="Aptos" pitchFamily="34" charset="-120"/>
              </a:rPr>
              <a:t>METHOD</a:t>
            </a:r>
            <a:endParaRPr lang="en-US" sz="1050" dirty="0"/>
          </a:p>
        </p:txBody>
      </p:sp>
      <p:sp>
        <p:nvSpPr>
          <p:cNvPr id="3" name="Text 1"/>
          <p:cNvSpPr/>
          <p:nvPr/>
        </p:nvSpPr>
        <p:spPr>
          <a:xfrm>
            <a:off x="502920" y="530352"/>
            <a:ext cx="11064240" cy="502920"/>
          </a:xfrm>
          <a:prstGeom prst="rect">
            <a:avLst/>
          </a:prstGeom>
          <a:noFill/>
          <a:ln/>
        </p:spPr>
        <p:txBody>
          <a:bodyPr wrap="square" lIns="0" tIns="0" rIns="0" bIns="0" rtlCol="0" anchor="ctr"/>
          <a:lstStyle/>
          <a:p>
            <a:pPr indent="0" marL="0">
              <a:buNone/>
            </a:pPr>
            <a:r>
              <a:rPr lang="en-US" sz="3050" b="1" dirty="0">
                <a:solidFill>
                  <a:srgbClr val="102A43"/>
                </a:solidFill>
                <a:latin typeface="Aptos Display" pitchFamily="34" charset="0"/>
                <a:ea typeface="Aptos Display" pitchFamily="34" charset="-122"/>
                <a:cs typeface="Aptos Display" pitchFamily="34" charset="-120"/>
              </a:rPr>
              <a:t>Five Classifiers Compared</a:t>
            </a:r>
            <a:endParaRPr lang="en-US" sz="3050" dirty="0"/>
          </a:p>
        </p:txBody>
      </p:sp>
      <p:sp>
        <p:nvSpPr>
          <p:cNvPr id="4" name="Shape 2"/>
          <p:cNvSpPr/>
          <p:nvPr/>
        </p:nvSpPr>
        <p:spPr>
          <a:xfrm>
            <a:off x="502920" y="1115568"/>
            <a:ext cx="11064240" cy="0"/>
          </a:xfrm>
          <a:prstGeom prst="line">
            <a:avLst/>
          </a:prstGeom>
          <a:noFill/>
          <a:ln w="12700">
            <a:solidFill>
              <a:srgbClr val="D9E2EC"/>
            </a:solidFill>
            <a:prstDash val="solid"/>
          </a:ln>
        </p:spPr>
      </p:sp>
      <p:sp>
        <p:nvSpPr>
          <p:cNvPr id="5" name="Shape 3"/>
          <p:cNvSpPr/>
          <p:nvPr/>
        </p:nvSpPr>
        <p:spPr>
          <a:xfrm>
            <a:off x="1371600" y="3364992"/>
            <a:ext cx="9509760" cy="0"/>
          </a:xfrm>
          <a:prstGeom prst="line">
            <a:avLst/>
          </a:prstGeom>
          <a:noFill/>
          <a:ln w="38100">
            <a:solidFill>
              <a:srgbClr val="D9E2EC"/>
            </a:solidFill>
            <a:prstDash val="solid"/>
            <a:tailEnd type="triangle"/>
          </a:ln>
        </p:spPr>
      </p:sp>
      <p:sp>
        <p:nvSpPr>
          <p:cNvPr id="6" name="Text 4"/>
          <p:cNvSpPr/>
          <p:nvPr/>
        </p:nvSpPr>
        <p:spPr>
          <a:xfrm>
            <a:off x="987552" y="3694176"/>
            <a:ext cx="2194560" cy="228600"/>
          </a:xfrm>
          <a:prstGeom prst="rect">
            <a:avLst/>
          </a:prstGeom>
          <a:noFill/>
          <a:ln/>
        </p:spPr>
        <p:txBody>
          <a:bodyPr wrap="square" lIns="0" tIns="0" rIns="0" bIns="0" rtlCol="0" anchor="ctr"/>
          <a:lstStyle/>
          <a:p>
            <a:pPr algn="ctr" indent="0" marL="0">
              <a:buNone/>
            </a:pPr>
            <a:r>
              <a:rPr lang="en-US" sz="1150" dirty="0">
                <a:solidFill>
                  <a:srgbClr val="5F6C7B"/>
                </a:solidFill>
              </a:rPr>
              <a:t>linear baselines</a:t>
            </a:r>
            <a:endParaRPr lang="en-US" sz="1150" dirty="0"/>
          </a:p>
        </p:txBody>
      </p:sp>
      <p:sp>
        <p:nvSpPr>
          <p:cNvPr id="7" name="Text 5"/>
          <p:cNvSpPr/>
          <p:nvPr/>
        </p:nvSpPr>
        <p:spPr>
          <a:xfrm>
            <a:off x="4937760" y="3694176"/>
            <a:ext cx="2194560" cy="228600"/>
          </a:xfrm>
          <a:prstGeom prst="rect">
            <a:avLst/>
          </a:prstGeom>
          <a:noFill/>
          <a:ln/>
        </p:spPr>
        <p:txBody>
          <a:bodyPr wrap="square" lIns="0" tIns="0" rIns="0" bIns="0" rtlCol="0" anchor="ctr"/>
          <a:lstStyle/>
          <a:p>
            <a:pPr algn="ctr" indent="0" marL="0">
              <a:buNone/>
            </a:pPr>
            <a:r>
              <a:rPr lang="en-US" sz="1150" dirty="0">
                <a:solidFill>
                  <a:srgbClr val="5F6C7B"/>
                </a:solidFill>
              </a:rPr>
              <a:t>tree ensembles</a:t>
            </a:r>
            <a:endParaRPr lang="en-US" sz="1150" dirty="0"/>
          </a:p>
        </p:txBody>
      </p:sp>
      <p:sp>
        <p:nvSpPr>
          <p:cNvPr id="8" name="Text 6"/>
          <p:cNvSpPr/>
          <p:nvPr/>
        </p:nvSpPr>
        <p:spPr>
          <a:xfrm>
            <a:off x="9052560" y="3694176"/>
            <a:ext cx="2194560" cy="228600"/>
          </a:xfrm>
          <a:prstGeom prst="rect">
            <a:avLst/>
          </a:prstGeom>
          <a:noFill/>
          <a:ln/>
        </p:spPr>
        <p:txBody>
          <a:bodyPr wrap="square" lIns="0" tIns="0" rIns="0" bIns="0" rtlCol="0" anchor="ctr"/>
          <a:lstStyle/>
          <a:p>
            <a:pPr algn="ctr" indent="0" marL="0">
              <a:buNone/>
            </a:pPr>
            <a:r>
              <a:rPr lang="en-US" sz="1150" dirty="0">
                <a:solidFill>
                  <a:srgbClr val="5F6C7B"/>
                </a:solidFill>
              </a:rPr>
              <a:t>neural model</a:t>
            </a:r>
            <a:endParaRPr lang="en-US" sz="1150" dirty="0"/>
          </a:p>
        </p:txBody>
      </p:sp>
      <p:sp>
        <p:nvSpPr>
          <p:cNvPr id="9" name="Text 7"/>
          <p:cNvSpPr/>
          <p:nvPr/>
        </p:nvSpPr>
        <p:spPr>
          <a:xfrm>
            <a:off x="777240" y="2011680"/>
            <a:ext cx="1627632" cy="566928"/>
          </a:xfrm>
          <a:prstGeom prst="rect">
            <a:avLst/>
          </a:prstGeom>
          <a:solidFill>
            <a:srgbClr val="EAF4FF"/>
          </a:solidFill>
          <a:ln w="16510">
            <a:solidFill>
              <a:srgbClr val="1677BB"/>
            </a:solidFill>
          </a:ln>
        </p:spPr>
        <p:txBody>
          <a:bodyPr wrap="square" lIns="381" tIns="381" rIns="381" bIns="381" rtlCol="0" anchor="ctr">
            <a:normAutofit/>
          </a:bodyPr>
          <a:lstStyle/>
          <a:p>
            <a:pPr algn="ctr" indent="0" marL="0">
              <a:buNone/>
            </a:pPr>
            <a:r>
              <a:rPr lang="en-US" sz="2000" b="1" dirty="0">
                <a:solidFill>
                  <a:srgbClr val="102A43"/>
                </a:solidFill>
              </a:rPr>
              <a:t>LDA</a:t>
            </a:r>
            <a:endParaRPr lang="en-US" sz="2000" dirty="0"/>
          </a:p>
        </p:txBody>
      </p:sp>
      <p:sp>
        <p:nvSpPr>
          <p:cNvPr id="10" name="Text 8"/>
          <p:cNvSpPr/>
          <p:nvPr/>
        </p:nvSpPr>
        <p:spPr>
          <a:xfrm>
            <a:off x="630936" y="4087368"/>
            <a:ext cx="1920240" cy="694944"/>
          </a:xfrm>
          <a:prstGeom prst="rect">
            <a:avLst/>
          </a:prstGeom>
          <a:noFill/>
          <a:ln/>
        </p:spPr>
        <p:txBody>
          <a:bodyPr wrap="square" lIns="254" tIns="254" rIns="254" bIns="254" rtlCol="0" anchor="ctr">
            <a:normAutofit/>
          </a:bodyPr>
          <a:lstStyle/>
          <a:p>
            <a:pPr algn="ctr" indent="0" marL="0">
              <a:buNone/>
            </a:pPr>
            <a:r>
              <a:rPr lang="en-US" sz="1350" dirty="0">
                <a:solidFill>
                  <a:srgbClr val="5F6C7B"/>
                </a:solidFill>
              </a:rPr>
              <a:t>Generative linear</a:t>
            </a:r>
            <a:endParaRPr lang="en-US" sz="1350" dirty="0"/>
          </a:p>
          <a:p>
            <a:pPr algn="ctr" indent="0" marL="0">
              <a:buNone/>
            </a:pPr>
            <a:r>
              <a:rPr lang="en-US" sz="1350" dirty="0">
                <a:solidFill>
                  <a:srgbClr val="5F6C7B"/>
                </a:solidFill>
              </a:rPr>
              <a:t>Gaussian assumption</a:t>
            </a:r>
            <a:endParaRPr lang="en-US" sz="1350" dirty="0"/>
          </a:p>
        </p:txBody>
      </p:sp>
      <p:sp>
        <p:nvSpPr>
          <p:cNvPr id="11" name="Text 9"/>
          <p:cNvSpPr/>
          <p:nvPr/>
        </p:nvSpPr>
        <p:spPr>
          <a:xfrm>
            <a:off x="2971800" y="2011680"/>
            <a:ext cx="1627632" cy="566928"/>
          </a:xfrm>
          <a:prstGeom prst="rect">
            <a:avLst/>
          </a:prstGeom>
          <a:solidFill>
            <a:srgbClr val="EAF4FF"/>
          </a:solidFill>
          <a:ln w="16510">
            <a:solidFill>
              <a:srgbClr val="1677BB"/>
            </a:solidFill>
          </a:ln>
        </p:spPr>
        <p:txBody>
          <a:bodyPr wrap="square" lIns="381" tIns="381" rIns="381" bIns="381" rtlCol="0" anchor="ctr">
            <a:normAutofit/>
          </a:bodyPr>
          <a:lstStyle/>
          <a:p>
            <a:pPr algn="ctr" indent="0" marL="0">
              <a:buNone/>
            </a:pPr>
            <a:r>
              <a:rPr lang="en-US" sz="2000" b="1" dirty="0">
                <a:solidFill>
                  <a:srgbClr val="102A43"/>
                </a:solidFill>
              </a:rPr>
              <a:t>Logistic</a:t>
            </a:r>
            <a:endParaRPr lang="en-US" sz="2000" dirty="0"/>
          </a:p>
          <a:p>
            <a:pPr algn="ctr" indent="0" marL="0">
              <a:buNone/>
            </a:pPr>
            <a:r>
              <a:rPr lang="en-US" sz="2000" b="1" dirty="0">
                <a:solidFill>
                  <a:srgbClr val="102A43"/>
                </a:solidFill>
              </a:rPr>
              <a:t>Regression</a:t>
            </a:r>
            <a:endParaRPr lang="en-US" sz="2000" dirty="0"/>
          </a:p>
        </p:txBody>
      </p:sp>
      <p:sp>
        <p:nvSpPr>
          <p:cNvPr id="12" name="Text 10"/>
          <p:cNvSpPr/>
          <p:nvPr/>
        </p:nvSpPr>
        <p:spPr>
          <a:xfrm>
            <a:off x="2825496" y="4087368"/>
            <a:ext cx="1920240" cy="694944"/>
          </a:xfrm>
          <a:prstGeom prst="rect">
            <a:avLst/>
          </a:prstGeom>
          <a:noFill/>
          <a:ln/>
        </p:spPr>
        <p:txBody>
          <a:bodyPr wrap="square" lIns="254" tIns="254" rIns="254" bIns="254" rtlCol="0" anchor="ctr">
            <a:normAutofit/>
          </a:bodyPr>
          <a:lstStyle/>
          <a:p>
            <a:pPr algn="ctr" indent="0" marL="0">
              <a:buNone/>
            </a:pPr>
            <a:r>
              <a:rPr lang="en-US" sz="1350" dirty="0">
                <a:solidFill>
                  <a:srgbClr val="5F6C7B"/>
                </a:solidFill>
              </a:rPr>
              <a:t>Weighted</a:t>
            </a:r>
            <a:endParaRPr lang="en-US" sz="1350" dirty="0"/>
          </a:p>
          <a:p>
            <a:pPr algn="ctr" indent="0" marL="0">
              <a:buNone/>
            </a:pPr>
            <a:r>
              <a:rPr lang="en-US" sz="1350" dirty="0">
                <a:solidFill>
                  <a:srgbClr val="5F6C7B"/>
                </a:solidFill>
              </a:rPr>
              <a:t>cross-entropy</a:t>
            </a:r>
            <a:endParaRPr lang="en-US" sz="1350" dirty="0"/>
          </a:p>
        </p:txBody>
      </p:sp>
      <p:sp>
        <p:nvSpPr>
          <p:cNvPr id="13" name="Text 11"/>
          <p:cNvSpPr/>
          <p:nvPr/>
        </p:nvSpPr>
        <p:spPr>
          <a:xfrm>
            <a:off x="5166360" y="2011680"/>
            <a:ext cx="1627632" cy="566928"/>
          </a:xfrm>
          <a:prstGeom prst="rect">
            <a:avLst/>
          </a:prstGeom>
          <a:solidFill>
            <a:srgbClr val="E8F5EE"/>
          </a:solidFill>
          <a:ln w="16510">
            <a:solidFill>
              <a:srgbClr val="2E8B57"/>
            </a:solidFill>
          </a:ln>
        </p:spPr>
        <p:txBody>
          <a:bodyPr wrap="square" lIns="381" tIns="381" rIns="381" bIns="381" rtlCol="0" anchor="ctr">
            <a:normAutofit/>
          </a:bodyPr>
          <a:lstStyle/>
          <a:p>
            <a:pPr algn="ctr" indent="0" marL="0">
              <a:buNone/>
            </a:pPr>
            <a:r>
              <a:rPr lang="en-US" sz="2000" b="1" dirty="0">
                <a:solidFill>
                  <a:srgbClr val="102A43"/>
                </a:solidFill>
              </a:rPr>
              <a:t>Random</a:t>
            </a:r>
            <a:endParaRPr lang="en-US" sz="2000" dirty="0"/>
          </a:p>
          <a:p>
            <a:pPr algn="ctr" indent="0" marL="0">
              <a:buNone/>
            </a:pPr>
            <a:r>
              <a:rPr lang="en-US" sz="2000" b="1" dirty="0">
                <a:solidFill>
                  <a:srgbClr val="102A43"/>
                </a:solidFill>
              </a:rPr>
              <a:t>Forest</a:t>
            </a:r>
            <a:endParaRPr lang="en-US" sz="2000" dirty="0"/>
          </a:p>
        </p:txBody>
      </p:sp>
      <p:sp>
        <p:nvSpPr>
          <p:cNvPr id="14" name="Text 12"/>
          <p:cNvSpPr/>
          <p:nvPr/>
        </p:nvSpPr>
        <p:spPr>
          <a:xfrm>
            <a:off x="5020056" y="4087368"/>
            <a:ext cx="1920240" cy="694944"/>
          </a:xfrm>
          <a:prstGeom prst="rect">
            <a:avLst/>
          </a:prstGeom>
          <a:noFill/>
          <a:ln/>
        </p:spPr>
        <p:txBody>
          <a:bodyPr wrap="square" lIns="254" tIns="254" rIns="254" bIns="254" rtlCol="0" anchor="ctr">
            <a:normAutofit/>
          </a:bodyPr>
          <a:lstStyle/>
          <a:p>
            <a:pPr algn="ctr" indent="0" marL="0">
              <a:buNone/>
            </a:pPr>
            <a:r>
              <a:rPr lang="en-US" sz="1350" dirty="0">
                <a:solidFill>
                  <a:srgbClr val="5F6C7B"/>
                </a:solidFill>
              </a:rPr>
              <a:t>100-tree ensemble</a:t>
            </a:r>
            <a:endParaRPr lang="en-US" sz="1350" dirty="0"/>
          </a:p>
          <a:p>
            <a:pPr algn="ctr" indent="0" marL="0">
              <a:buNone/>
            </a:pPr>
            <a:r>
              <a:rPr lang="en-US" sz="1350" dirty="0">
                <a:solidFill>
                  <a:srgbClr val="5F6C7B"/>
                </a:solidFill>
              </a:rPr>
              <a:t>bootstrap splits</a:t>
            </a:r>
            <a:endParaRPr lang="en-US" sz="1350" dirty="0"/>
          </a:p>
        </p:txBody>
      </p:sp>
      <p:sp>
        <p:nvSpPr>
          <p:cNvPr id="15" name="Text 13"/>
          <p:cNvSpPr/>
          <p:nvPr/>
        </p:nvSpPr>
        <p:spPr>
          <a:xfrm>
            <a:off x="7360920" y="2011680"/>
            <a:ext cx="1627632" cy="566928"/>
          </a:xfrm>
          <a:prstGeom prst="rect">
            <a:avLst/>
          </a:prstGeom>
          <a:solidFill>
            <a:srgbClr val="E8F5EE"/>
          </a:solidFill>
          <a:ln w="16510">
            <a:solidFill>
              <a:srgbClr val="2E8B57"/>
            </a:solidFill>
          </a:ln>
        </p:spPr>
        <p:txBody>
          <a:bodyPr wrap="square" lIns="381" tIns="381" rIns="381" bIns="381" rtlCol="0" anchor="ctr">
            <a:normAutofit/>
          </a:bodyPr>
          <a:lstStyle/>
          <a:p>
            <a:pPr algn="ctr" indent="0" marL="0">
              <a:buNone/>
            </a:pPr>
            <a:r>
              <a:rPr lang="en-US" sz="2000" b="1" dirty="0">
                <a:solidFill>
                  <a:srgbClr val="102A43"/>
                </a:solidFill>
              </a:rPr>
              <a:t>LightGBM</a:t>
            </a:r>
            <a:endParaRPr lang="en-US" sz="2000" dirty="0"/>
          </a:p>
        </p:txBody>
      </p:sp>
      <p:sp>
        <p:nvSpPr>
          <p:cNvPr id="16" name="Text 14"/>
          <p:cNvSpPr/>
          <p:nvPr/>
        </p:nvSpPr>
        <p:spPr>
          <a:xfrm>
            <a:off x="7214616" y="4087368"/>
            <a:ext cx="1920240" cy="694944"/>
          </a:xfrm>
          <a:prstGeom prst="rect">
            <a:avLst/>
          </a:prstGeom>
          <a:noFill/>
          <a:ln/>
        </p:spPr>
        <p:txBody>
          <a:bodyPr wrap="square" lIns="254" tIns="254" rIns="254" bIns="254" rtlCol="0" anchor="ctr">
            <a:normAutofit/>
          </a:bodyPr>
          <a:lstStyle/>
          <a:p>
            <a:pPr algn="ctr" indent="0" marL="0">
              <a:buNone/>
            </a:pPr>
            <a:r>
              <a:rPr lang="en-US" sz="1350" dirty="0">
                <a:solidFill>
                  <a:srgbClr val="5F6C7B"/>
                </a:solidFill>
              </a:rPr>
              <a:t>Gradient boosting</a:t>
            </a:r>
            <a:endParaRPr lang="en-US" sz="1350" dirty="0"/>
          </a:p>
          <a:p>
            <a:pPr algn="ctr" indent="0" marL="0">
              <a:buNone/>
            </a:pPr>
            <a:r>
              <a:rPr lang="en-US" sz="1350" dirty="0">
                <a:solidFill>
                  <a:srgbClr val="5F6C7B"/>
                </a:solidFill>
              </a:rPr>
              <a:t>histogram splits</a:t>
            </a:r>
            <a:endParaRPr lang="en-US" sz="1350" dirty="0"/>
          </a:p>
        </p:txBody>
      </p:sp>
      <p:sp>
        <p:nvSpPr>
          <p:cNvPr id="17" name="Text 15"/>
          <p:cNvSpPr/>
          <p:nvPr/>
        </p:nvSpPr>
        <p:spPr>
          <a:xfrm>
            <a:off x="9555480" y="2011680"/>
            <a:ext cx="1627632" cy="566928"/>
          </a:xfrm>
          <a:prstGeom prst="rect">
            <a:avLst/>
          </a:prstGeom>
          <a:solidFill>
            <a:srgbClr val="FFF1E3"/>
          </a:solidFill>
          <a:ln w="16510">
            <a:solidFill>
              <a:srgbClr val="F28C28"/>
            </a:solidFill>
          </a:ln>
        </p:spPr>
        <p:txBody>
          <a:bodyPr wrap="square" lIns="381" tIns="381" rIns="381" bIns="381" rtlCol="0" anchor="ctr">
            <a:normAutofit/>
          </a:bodyPr>
          <a:lstStyle/>
          <a:p>
            <a:pPr algn="ctr" indent="0" marL="0">
              <a:buNone/>
            </a:pPr>
            <a:r>
              <a:rPr lang="en-US" sz="2000" b="1" dirty="0">
                <a:solidFill>
                  <a:srgbClr val="102A43"/>
                </a:solidFill>
              </a:rPr>
              <a:t>MLP</a:t>
            </a:r>
            <a:endParaRPr lang="en-US" sz="2000" dirty="0"/>
          </a:p>
        </p:txBody>
      </p:sp>
      <p:sp>
        <p:nvSpPr>
          <p:cNvPr id="18" name="Text 16"/>
          <p:cNvSpPr/>
          <p:nvPr/>
        </p:nvSpPr>
        <p:spPr>
          <a:xfrm>
            <a:off x="9409176" y="4087368"/>
            <a:ext cx="1920240" cy="694944"/>
          </a:xfrm>
          <a:prstGeom prst="rect">
            <a:avLst/>
          </a:prstGeom>
          <a:noFill/>
          <a:ln/>
        </p:spPr>
        <p:txBody>
          <a:bodyPr wrap="square" lIns="254" tIns="254" rIns="254" bIns="254" rtlCol="0" anchor="ctr">
            <a:normAutofit/>
          </a:bodyPr>
          <a:lstStyle/>
          <a:p>
            <a:pPr algn="ctr" indent="0" marL="0">
              <a:buNone/>
            </a:pPr>
            <a:r>
              <a:rPr lang="en-US" sz="1350" dirty="0">
                <a:solidFill>
                  <a:srgbClr val="5F6C7B"/>
                </a:solidFill>
              </a:rPr>
              <a:t>64→32 hidden units</a:t>
            </a:r>
            <a:endParaRPr lang="en-US" sz="1350" dirty="0"/>
          </a:p>
          <a:p>
            <a:pPr algn="ctr" indent="0" marL="0">
              <a:buNone/>
            </a:pPr>
            <a:r>
              <a:rPr lang="en-US" sz="1350" dirty="0">
                <a:solidFill>
                  <a:srgbClr val="5F6C7B"/>
                </a:solidFill>
              </a:rPr>
              <a:t>ReLU + early stop</a:t>
            </a:r>
            <a:endParaRPr lang="en-US" sz="1350" dirty="0"/>
          </a:p>
        </p:txBody>
      </p:sp>
      <p:sp>
        <p:nvSpPr>
          <p:cNvPr id="19" name="Text 17"/>
          <p:cNvSpPr/>
          <p:nvPr/>
        </p:nvSpPr>
        <p:spPr>
          <a:xfrm>
            <a:off x="914400" y="5285232"/>
            <a:ext cx="10378440" cy="603504"/>
          </a:xfrm>
          <a:prstGeom prst="rect">
            <a:avLst/>
          </a:prstGeom>
          <a:solidFill>
            <a:srgbClr val="EAF4FF"/>
          </a:solidFill>
          <a:ln w="13970">
            <a:solidFill>
              <a:srgbClr val="1677BB"/>
            </a:solidFill>
          </a:ln>
        </p:spPr>
        <p:txBody>
          <a:bodyPr wrap="square" lIns="1651" tIns="1651" rIns="1651" bIns="1651" rtlCol="0" anchor="ctr">
            <a:normAutofit/>
          </a:bodyPr>
          <a:lstStyle/>
          <a:p>
            <a:pPr indent="0" marL="0">
              <a:buNone/>
            </a:pPr>
            <a:r>
              <a:rPr lang="en-US" sz="1700" dirty="0">
                <a:solidFill>
                  <a:srgbClr val="102A43"/>
                </a:solidFill>
              </a:rPr>
              <a:t>All models used imbalance-aware training. Final threshold was tuned on validation set to maximize F1, not fixed at 0.5.</a:t>
            </a:r>
            <a:endParaRPr lang="en-US" sz="1700" dirty="0"/>
          </a:p>
        </p:txBody>
      </p:sp>
      <p:sp>
        <p:nvSpPr>
          <p:cNvPr id="20" name="Text 18"/>
          <p:cNvSpPr/>
          <p:nvPr/>
        </p:nvSpPr>
        <p:spPr>
          <a:xfrm>
            <a:off x="502920" y="6519672"/>
            <a:ext cx="11155680" cy="228600"/>
          </a:xfrm>
          <a:prstGeom prst="rect">
            <a:avLst/>
          </a:prstGeom>
          <a:noFill/>
          <a:ln/>
        </p:spPr>
        <p:txBody>
          <a:bodyPr wrap="square" lIns="0" tIns="0" rIns="0" bIns="0" rtlCol="0" anchor="ctr"/>
          <a:lstStyle/>
          <a:p>
            <a:pPr algn="r" indent="0" marL="0">
              <a:buNone/>
            </a:pPr>
            <a:r>
              <a:rPr lang="en-US" sz="850" dirty="0">
                <a:solidFill>
                  <a:srgbClr val="718096"/>
                </a:solidFill>
              </a:rPr>
              <a:t>BBL514E Pattern Recognition  |  Go-Around Classification  |  5/10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4389120" cy="219456"/>
          </a:xfrm>
          <a:prstGeom prst="rect">
            <a:avLst/>
          </a:prstGeom>
          <a:noFill/>
          <a:ln/>
        </p:spPr>
        <p:txBody>
          <a:bodyPr wrap="square" lIns="0" tIns="0" rIns="0" bIns="0" rtlCol="0" anchor="ctr"/>
          <a:lstStyle/>
          <a:p>
            <a:pPr indent="0" marL="0">
              <a:buNone/>
            </a:pPr>
            <a:r>
              <a:rPr lang="en-US" sz="1050" b="1" dirty="0">
                <a:solidFill>
                  <a:srgbClr val="1677BB"/>
                </a:solidFill>
                <a:latin typeface="Aptos" pitchFamily="34" charset="0"/>
                <a:ea typeface="Aptos" pitchFamily="34" charset="-122"/>
                <a:cs typeface="Aptos" pitchFamily="34" charset="-120"/>
              </a:rPr>
              <a:t>RESULTS</a:t>
            </a:r>
            <a:endParaRPr lang="en-US" sz="1050" dirty="0"/>
          </a:p>
        </p:txBody>
      </p:sp>
      <p:sp>
        <p:nvSpPr>
          <p:cNvPr id="3" name="Text 1"/>
          <p:cNvSpPr/>
          <p:nvPr/>
        </p:nvSpPr>
        <p:spPr>
          <a:xfrm>
            <a:off x="502920" y="530352"/>
            <a:ext cx="11064240" cy="502920"/>
          </a:xfrm>
          <a:prstGeom prst="rect">
            <a:avLst/>
          </a:prstGeom>
          <a:noFill/>
          <a:ln/>
        </p:spPr>
        <p:txBody>
          <a:bodyPr wrap="square" lIns="0" tIns="0" rIns="0" bIns="0" rtlCol="0" anchor="ctr"/>
          <a:lstStyle/>
          <a:p>
            <a:pPr indent="0" marL="0">
              <a:buNone/>
            </a:pPr>
            <a:r>
              <a:rPr lang="en-US" sz="3050" b="1" dirty="0">
                <a:solidFill>
                  <a:srgbClr val="102A43"/>
                </a:solidFill>
                <a:latin typeface="Aptos Display" pitchFamily="34" charset="0"/>
                <a:ea typeface="Aptos Display" pitchFamily="34" charset="-122"/>
                <a:cs typeface="Aptos Display" pitchFamily="34" charset="-120"/>
              </a:rPr>
              <a:t>Results — Test Set Performance</a:t>
            </a:r>
            <a:endParaRPr lang="en-US" sz="3050" dirty="0"/>
          </a:p>
        </p:txBody>
      </p:sp>
      <p:sp>
        <p:nvSpPr>
          <p:cNvPr id="4" name="Shape 2"/>
          <p:cNvSpPr/>
          <p:nvPr/>
        </p:nvSpPr>
        <p:spPr>
          <a:xfrm>
            <a:off x="502920" y="1115568"/>
            <a:ext cx="11064240" cy="0"/>
          </a:xfrm>
          <a:prstGeom prst="line">
            <a:avLst/>
          </a:prstGeom>
          <a:noFill/>
          <a:ln w="12700">
            <a:solidFill>
              <a:srgbClr val="D9E2EC"/>
            </a:solidFill>
            <a:prstDash val="solid"/>
          </a:ln>
        </p:spPr>
      </p:sp>
      <p:sp>
        <p:nvSpPr>
          <p:cNvPr id="5" name="Text 3"/>
          <p:cNvSpPr/>
          <p:nvPr/>
        </p:nvSpPr>
        <p:spPr>
          <a:xfrm>
            <a:off x="658368" y="1389888"/>
            <a:ext cx="2423160" cy="347472"/>
          </a:xfrm>
          <a:prstGeom prst="rect">
            <a:avLst/>
          </a:prstGeom>
          <a:solidFill>
            <a:srgbClr val="102A43"/>
          </a:solidFill>
          <a:ln>
            <a:solidFill>
              <a:srgbClr val="102A43"/>
            </a:solidFill>
          </a:ln>
        </p:spPr>
        <p:txBody>
          <a:bodyPr wrap="square" lIns="508" tIns="508" rIns="508" bIns="508" rtlCol="0" anchor="ctr"/>
          <a:lstStyle/>
          <a:p>
            <a:pPr algn="ctr" indent="0" marL="0">
              <a:buNone/>
            </a:pPr>
            <a:r>
              <a:rPr lang="en-US" sz="1350" b="1" dirty="0">
                <a:solidFill>
                  <a:srgbClr val="FFFFFF"/>
                </a:solidFill>
              </a:rPr>
              <a:t>Model</a:t>
            </a:r>
            <a:endParaRPr lang="en-US" sz="1350" dirty="0"/>
          </a:p>
        </p:txBody>
      </p:sp>
      <p:sp>
        <p:nvSpPr>
          <p:cNvPr id="6" name="Text 4"/>
          <p:cNvSpPr/>
          <p:nvPr/>
        </p:nvSpPr>
        <p:spPr>
          <a:xfrm>
            <a:off x="3081528" y="1389888"/>
            <a:ext cx="2148840" cy="347472"/>
          </a:xfrm>
          <a:prstGeom prst="rect">
            <a:avLst/>
          </a:prstGeom>
          <a:solidFill>
            <a:srgbClr val="102A43"/>
          </a:solidFill>
          <a:ln>
            <a:solidFill>
              <a:srgbClr val="102A43"/>
            </a:solidFill>
          </a:ln>
        </p:spPr>
        <p:txBody>
          <a:bodyPr wrap="square" lIns="508" tIns="508" rIns="508" bIns="508" rtlCol="0" anchor="ctr"/>
          <a:lstStyle/>
          <a:p>
            <a:pPr algn="ctr" indent="0" marL="0">
              <a:buNone/>
            </a:pPr>
            <a:r>
              <a:rPr lang="en-US" sz="1350" b="1" dirty="0">
                <a:solidFill>
                  <a:srgbClr val="FFFFFF"/>
                </a:solidFill>
              </a:rPr>
              <a:t>Feature Set</a:t>
            </a:r>
            <a:endParaRPr lang="en-US" sz="1350" dirty="0"/>
          </a:p>
        </p:txBody>
      </p:sp>
      <p:sp>
        <p:nvSpPr>
          <p:cNvPr id="7" name="Text 5"/>
          <p:cNvSpPr/>
          <p:nvPr/>
        </p:nvSpPr>
        <p:spPr>
          <a:xfrm>
            <a:off x="5230368" y="1389888"/>
            <a:ext cx="1325880" cy="347472"/>
          </a:xfrm>
          <a:prstGeom prst="rect">
            <a:avLst/>
          </a:prstGeom>
          <a:solidFill>
            <a:srgbClr val="102A43"/>
          </a:solidFill>
          <a:ln>
            <a:solidFill>
              <a:srgbClr val="102A43"/>
            </a:solidFill>
          </a:ln>
        </p:spPr>
        <p:txBody>
          <a:bodyPr wrap="square" lIns="508" tIns="508" rIns="508" bIns="508" rtlCol="0" anchor="ctr"/>
          <a:lstStyle/>
          <a:p>
            <a:pPr algn="ctr" indent="0" marL="0">
              <a:buNone/>
            </a:pPr>
            <a:r>
              <a:rPr lang="en-US" sz="1350" b="1" dirty="0">
                <a:solidFill>
                  <a:srgbClr val="FFFFFF"/>
                </a:solidFill>
              </a:rPr>
              <a:t>ROC-AUC</a:t>
            </a:r>
            <a:endParaRPr lang="en-US" sz="1350" dirty="0"/>
          </a:p>
        </p:txBody>
      </p:sp>
      <p:sp>
        <p:nvSpPr>
          <p:cNvPr id="8" name="Text 6"/>
          <p:cNvSpPr/>
          <p:nvPr/>
        </p:nvSpPr>
        <p:spPr>
          <a:xfrm>
            <a:off x="6556248" y="1389888"/>
            <a:ext cx="1325880" cy="347472"/>
          </a:xfrm>
          <a:prstGeom prst="rect">
            <a:avLst/>
          </a:prstGeom>
          <a:solidFill>
            <a:srgbClr val="102A43"/>
          </a:solidFill>
          <a:ln>
            <a:solidFill>
              <a:srgbClr val="102A43"/>
            </a:solidFill>
          </a:ln>
        </p:spPr>
        <p:txBody>
          <a:bodyPr wrap="square" lIns="508" tIns="508" rIns="508" bIns="508" rtlCol="0" anchor="ctr"/>
          <a:lstStyle/>
          <a:p>
            <a:pPr algn="ctr" indent="0" marL="0">
              <a:buNone/>
            </a:pPr>
            <a:r>
              <a:rPr lang="en-US" sz="1350" b="1" dirty="0">
                <a:solidFill>
                  <a:srgbClr val="FFFFFF"/>
                </a:solidFill>
              </a:rPr>
              <a:t>PR-AUC</a:t>
            </a:r>
            <a:endParaRPr lang="en-US" sz="1350" dirty="0"/>
          </a:p>
        </p:txBody>
      </p:sp>
      <p:sp>
        <p:nvSpPr>
          <p:cNvPr id="9" name="Text 7"/>
          <p:cNvSpPr/>
          <p:nvPr/>
        </p:nvSpPr>
        <p:spPr>
          <a:xfrm>
            <a:off x="7882128" y="1389888"/>
            <a:ext cx="1051560" cy="347472"/>
          </a:xfrm>
          <a:prstGeom prst="rect">
            <a:avLst/>
          </a:prstGeom>
          <a:solidFill>
            <a:srgbClr val="102A43"/>
          </a:solidFill>
          <a:ln>
            <a:solidFill>
              <a:srgbClr val="102A43"/>
            </a:solidFill>
          </a:ln>
        </p:spPr>
        <p:txBody>
          <a:bodyPr wrap="square" lIns="508" tIns="508" rIns="508" bIns="508" rtlCol="0" anchor="ctr"/>
          <a:lstStyle/>
          <a:p>
            <a:pPr algn="ctr" indent="0" marL="0">
              <a:buNone/>
            </a:pPr>
            <a:r>
              <a:rPr lang="en-US" sz="1350" b="1" dirty="0">
                <a:solidFill>
                  <a:srgbClr val="FFFFFF"/>
                </a:solidFill>
              </a:rPr>
              <a:t>F1</a:t>
            </a:r>
            <a:endParaRPr lang="en-US" sz="1350" dirty="0"/>
          </a:p>
        </p:txBody>
      </p:sp>
      <p:sp>
        <p:nvSpPr>
          <p:cNvPr id="10" name="Text 8"/>
          <p:cNvSpPr/>
          <p:nvPr/>
        </p:nvSpPr>
        <p:spPr>
          <a:xfrm>
            <a:off x="658368" y="1773936"/>
            <a:ext cx="2423160" cy="384048"/>
          </a:xfrm>
          <a:prstGeom prst="rect">
            <a:avLst/>
          </a:prstGeom>
          <a:solidFill>
            <a:srgbClr val="E8F5EE"/>
          </a:solidFill>
          <a:ln w="7620">
            <a:solidFill>
              <a:srgbClr val="E2E8F0"/>
            </a:solidFill>
          </a:ln>
        </p:spPr>
        <p:txBody>
          <a:bodyPr wrap="square" lIns="762" tIns="762" rIns="762" bIns="762" rtlCol="0" anchor="ctr">
            <a:normAutofit/>
          </a:bodyPr>
          <a:lstStyle/>
          <a:p>
            <a:pPr algn="l" indent="0" marL="0">
              <a:buNone/>
            </a:pPr>
            <a:r>
              <a:rPr lang="en-US" sz="1370" b="1" dirty="0">
                <a:solidFill>
                  <a:srgbClr val="102A43"/>
                </a:solidFill>
              </a:rPr>
              <a:t>MLP</a:t>
            </a:r>
            <a:endParaRPr lang="en-US" sz="1370" dirty="0"/>
          </a:p>
        </p:txBody>
      </p:sp>
      <p:sp>
        <p:nvSpPr>
          <p:cNvPr id="11" name="Text 9"/>
          <p:cNvSpPr/>
          <p:nvPr/>
        </p:nvSpPr>
        <p:spPr>
          <a:xfrm>
            <a:off x="3081528" y="1773936"/>
            <a:ext cx="2148840" cy="384048"/>
          </a:xfrm>
          <a:prstGeom prst="rect">
            <a:avLst/>
          </a:prstGeom>
          <a:solidFill>
            <a:srgbClr val="E8F5EE"/>
          </a:solidFill>
          <a:ln w="7620">
            <a:solidFill>
              <a:srgbClr val="E2E8F0"/>
            </a:solidFill>
          </a:ln>
        </p:spPr>
        <p:txBody>
          <a:bodyPr wrap="square" lIns="762" tIns="762" rIns="762" bIns="762" rtlCol="0" anchor="ctr">
            <a:normAutofit/>
          </a:bodyPr>
          <a:lstStyle/>
          <a:p>
            <a:pPr algn="l" indent="0" marL="0">
              <a:buNone/>
            </a:pPr>
            <a:r>
              <a:rPr lang="en-US" sz="1370" b="1" dirty="0">
                <a:solidFill>
                  <a:srgbClr val="102A43"/>
                </a:solidFill>
              </a:rPr>
              <a:t>context+METAR</a:t>
            </a:r>
            <a:endParaRPr lang="en-US" sz="1370" dirty="0"/>
          </a:p>
        </p:txBody>
      </p:sp>
      <p:sp>
        <p:nvSpPr>
          <p:cNvPr id="12" name="Text 10"/>
          <p:cNvSpPr/>
          <p:nvPr/>
        </p:nvSpPr>
        <p:spPr>
          <a:xfrm>
            <a:off x="5230368" y="1773936"/>
            <a:ext cx="1325880" cy="384048"/>
          </a:xfrm>
          <a:prstGeom prst="rect">
            <a:avLst/>
          </a:prstGeom>
          <a:solidFill>
            <a:srgbClr val="E8F5EE"/>
          </a:solidFill>
          <a:ln w="7620">
            <a:solidFill>
              <a:srgbClr val="E2E8F0"/>
            </a:solidFill>
          </a:ln>
        </p:spPr>
        <p:txBody>
          <a:bodyPr wrap="square" lIns="762" tIns="762" rIns="762" bIns="762" rtlCol="0" anchor="ctr">
            <a:normAutofit/>
          </a:bodyPr>
          <a:lstStyle/>
          <a:p>
            <a:pPr algn="ctr" indent="0" marL="0">
              <a:buNone/>
            </a:pPr>
            <a:r>
              <a:rPr lang="en-US" sz="1370" b="1" dirty="0">
                <a:solidFill>
                  <a:srgbClr val="102A43"/>
                </a:solidFill>
              </a:rPr>
              <a:t>0.685</a:t>
            </a:r>
            <a:endParaRPr lang="en-US" sz="1370" dirty="0"/>
          </a:p>
        </p:txBody>
      </p:sp>
      <p:sp>
        <p:nvSpPr>
          <p:cNvPr id="13" name="Text 11"/>
          <p:cNvSpPr/>
          <p:nvPr/>
        </p:nvSpPr>
        <p:spPr>
          <a:xfrm>
            <a:off x="6556248" y="1773936"/>
            <a:ext cx="1325880" cy="384048"/>
          </a:xfrm>
          <a:prstGeom prst="rect">
            <a:avLst/>
          </a:prstGeom>
          <a:solidFill>
            <a:srgbClr val="E8F5EE"/>
          </a:solidFill>
          <a:ln w="7620">
            <a:solidFill>
              <a:srgbClr val="E2E8F0"/>
            </a:solidFill>
          </a:ln>
        </p:spPr>
        <p:txBody>
          <a:bodyPr wrap="square" lIns="762" tIns="762" rIns="762" bIns="762" rtlCol="0" anchor="ctr">
            <a:normAutofit/>
          </a:bodyPr>
          <a:lstStyle/>
          <a:p>
            <a:pPr algn="ctr" indent="0" marL="0">
              <a:buNone/>
            </a:pPr>
            <a:r>
              <a:rPr lang="en-US" sz="1370" b="1" dirty="0">
                <a:solidFill>
                  <a:srgbClr val="102A43"/>
                </a:solidFill>
              </a:rPr>
              <a:t>0.0160</a:t>
            </a:r>
            <a:endParaRPr lang="en-US" sz="1370" dirty="0"/>
          </a:p>
        </p:txBody>
      </p:sp>
      <p:sp>
        <p:nvSpPr>
          <p:cNvPr id="14" name="Text 12"/>
          <p:cNvSpPr/>
          <p:nvPr/>
        </p:nvSpPr>
        <p:spPr>
          <a:xfrm>
            <a:off x="7882128" y="1773936"/>
            <a:ext cx="1051560" cy="384048"/>
          </a:xfrm>
          <a:prstGeom prst="rect">
            <a:avLst/>
          </a:prstGeom>
          <a:solidFill>
            <a:srgbClr val="E8F5EE"/>
          </a:solidFill>
          <a:ln w="7620">
            <a:solidFill>
              <a:srgbClr val="E2E8F0"/>
            </a:solidFill>
          </a:ln>
        </p:spPr>
        <p:txBody>
          <a:bodyPr wrap="square" lIns="762" tIns="762" rIns="762" bIns="762" rtlCol="0" anchor="ctr">
            <a:normAutofit/>
          </a:bodyPr>
          <a:lstStyle/>
          <a:p>
            <a:pPr algn="ctr" indent="0" marL="0">
              <a:buNone/>
            </a:pPr>
            <a:r>
              <a:rPr lang="en-US" sz="1370" b="1" dirty="0">
                <a:solidFill>
                  <a:srgbClr val="102A43"/>
                </a:solidFill>
              </a:rPr>
              <a:t>0.043</a:t>
            </a:r>
            <a:endParaRPr lang="en-US" sz="1370" dirty="0"/>
          </a:p>
        </p:txBody>
      </p:sp>
      <p:sp>
        <p:nvSpPr>
          <p:cNvPr id="15" name="Text 13"/>
          <p:cNvSpPr/>
          <p:nvPr/>
        </p:nvSpPr>
        <p:spPr>
          <a:xfrm>
            <a:off x="658368" y="2194560"/>
            <a:ext cx="2423160" cy="384048"/>
          </a:xfrm>
          <a:prstGeom prst="rect">
            <a:avLst/>
          </a:prstGeom>
          <a:solidFill>
            <a:srgbClr val="FFFFFF"/>
          </a:solidFill>
          <a:ln w="7620">
            <a:solidFill>
              <a:srgbClr val="E2E8F0"/>
            </a:solidFill>
          </a:ln>
        </p:spPr>
        <p:txBody>
          <a:bodyPr wrap="square" lIns="762" tIns="762" rIns="762" bIns="762" rtlCol="0" anchor="ctr">
            <a:normAutofit/>
          </a:bodyPr>
          <a:lstStyle/>
          <a:p>
            <a:pPr algn="l" indent="0" marL="0">
              <a:buNone/>
            </a:pPr>
            <a:r>
              <a:rPr lang="en-US" sz="1370" b="1" dirty="0">
                <a:solidFill>
                  <a:srgbClr val="102A43"/>
                </a:solidFill>
              </a:rPr>
              <a:t>LightGBM</a:t>
            </a:r>
            <a:endParaRPr lang="en-US" sz="1370" dirty="0"/>
          </a:p>
        </p:txBody>
      </p:sp>
      <p:sp>
        <p:nvSpPr>
          <p:cNvPr id="16" name="Text 14"/>
          <p:cNvSpPr/>
          <p:nvPr/>
        </p:nvSpPr>
        <p:spPr>
          <a:xfrm>
            <a:off x="3081528" y="2194560"/>
            <a:ext cx="2148840" cy="384048"/>
          </a:xfrm>
          <a:prstGeom prst="rect">
            <a:avLst/>
          </a:prstGeom>
          <a:solidFill>
            <a:srgbClr val="FFFFFF"/>
          </a:solidFill>
          <a:ln w="7620">
            <a:solidFill>
              <a:srgbClr val="E2E8F0"/>
            </a:solidFill>
          </a:ln>
        </p:spPr>
        <p:txBody>
          <a:bodyPr wrap="square" lIns="762" tIns="762" rIns="762" bIns="762" rtlCol="0" anchor="ctr">
            <a:normAutofit/>
          </a:bodyPr>
          <a:lstStyle/>
          <a:p>
            <a:pPr algn="l" indent="0" marL="0">
              <a:buNone/>
            </a:pPr>
            <a:r>
              <a:rPr lang="en-US" sz="1370" dirty="0">
                <a:solidFill>
                  <a:srgbClr val="102A43"/>
                </a:solidFill>
              </a:rPr>
              <a:t>context+METAR</a:t>
            </a:r>
            <a:endParaRPr lang="en-US" sz="1370" dirty="0"/>
          </a:p>
        </p:txBody>
      </p:sp>
      <p:sp>
        <p:nvSpPr>
          <p:cNvPr id="17" name="Text 15"/>
          <p:cNvSpPr/>
          <p:nvPr/>
        </p:nvSpPr>
        <p:spPr>
          <a:xfrm>
            <a:off x="5230368" y="2194560"/>
            <a:ext cx="1325880" cy="384048"/>
          </a:xfrm>
          <a:prstGeom prst="rect">
            <a:avLst/>
          </a:prstGeom>
          <a:solidFill>
            <a:srgbClr val="FFFFFF"/>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0.679</a:t>
            </a:r>
            <a:endParaRPr lang="en-US" sz="1370" dirty="0"/>
          </a:p>
        </p:txBody>
      </p:sp>
      <p:sp>
        <p:nvSpPr>
          <p:cNvPr id="18" name="Text 16"/>
          <p:cNvSpPr/>
          <p:nvPr/>
        </p:nvSpPr>
        <p:spPr>
          <a:xfrm>
            <a:off x="6556248" y="2194560"/>
            <a:ext cx="1325880" cy="384048"/>
          </a:xfrm>
          <a:prstGeom prst="rect">
            <a:avLst/>
          </a:prstGeom>
          <a:solidFill>
            <a:srgbClr val="FFFFFF"/>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0.0134</a:t>
            </a:r>
            <a:endParaRPr lang="en-US" sz="1370" dirty="0"/>
          </a:p>
        </p:txBody>
      </p:sp>
      <p:sp>
        <p:nvSpPr>
          <p:cNvPr id="19" name="Text 17"/>
          <p:cNvSpPr/>
          <p:nvPr/>
        </p:nvSpPr>
        <p:spPr>
          <a:xfrm>
            <a:off x="7882128" y="2194560"/>
            <a:ext cx="1051560" cy="384048"/>
          </a:xfrm>
          <a:prstGeom prst="rect">
            <a:avLst/>
          </a:prstGeom>
          <a:solidFill>
            <a:srgbClr val="FFFFFF"/>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0.030</a:t>
            </a:r>
            <a:endParaRPr lang="en-US" sz="1370" dirty="0"/>
          </a:p>
        </p:txBody>
      </p:sp>
      <p:sp>
        <p:nvSpPr>
          <p:cNvPr id="20" name="Text 18"/>
          <p:cNvSpPr/>
          <p:nvPr/>
        </p:nvSpPr>
        <p:spPr>
          <a:xfrm>
            <a:off x="658368" y="2615184"/>
            <a:ext cx="2423160" cy="384048"/>
          </a:xfrm>
          <a:prstGeom prst="rect">
            <a:avLst/>
          </a:prstGeom>
          <a:solidFill>
            <a:srgbClr val="F9FBFD"/>
          </a:solidFill>
          <a:ln w="7620">
            <a:solidFill>
              <a:srgbClr val="E2E8F0"/>
            </a:solidFill>
          </a:ln>
        </p:spPr>
        <p:txBody>
          <a:bodyPr wrap="square" lIns="762" tIns="762" rIns="762" bIns="762" rtlCol="0" anchor="ctr">
            <a:normAutofit/>
          </a:bodyPr>
          <a:lstStyle/>
          <a:p>
            <a:pPr algn="l" indent="0" marL="0">
              <a:buNone/>
            </a:pPr>
            <a:r>
              <a:rPr lang="en-US" sz="1370" b="1" dirty="0">
                <a:solidFill>
                  <a:srgbClr val="102A43"/>
                </a:solidFill>
              </a:rPr>
              <a:t>Random Forest</a:t>
            </a:r>
            <a:endParaRPr lang="en-US" sz="1370" dirty="0"/>
          </a:p>
        </p:txBody>
      </p:sp>
      <p:sp>
        <p:nvSpPr>
          <p:cNvPr id="21" name="Text 19"/>
          <p:cNvSpPr/>
          <p:nvPr/>
        </p:nvSpPr>
        <p:spPr>
          <a:xfrm>
            <a:off x="3081528" y="2615184"/>
            <a:ext cx="2148840" cy="384048"/>
          </a:xfrm>
          <a:prstGeom prst="rect">
            <a:avLst/>
          </a:prstGeom>
          <a:solidFill>
            <a:srgbClr val="F9FBFD"/>
          </a:solidFill>
          <a:ln w="7620">
            <a:solidFill>
              <a:srgbClr val="E2E8F0"/>
            </a:solidFill>
          </a:ln>
        </p:spPr>
        <p:txBody>
          <a:bodyPr wrap="square" lIns="762" tIns="762" rIns="762" bIns="762" rtlCol="0" anchor="ctr">
            <a:normAutofit/>
          </a:bodyPr>
          <a:lstStyle/>
          <a:p>
            <a:pPr algn="l" indent="0" marL="0">
              <a:buNone/>
            </a:pPr>
            <a:r>
              <a:rPr lang="en-US" sz="1370" dirty="0">
                <a:solidFill>
                  <a:srgbClr val="102A43"/>
                </a:solidFill>
              </a:rPr>
              <a:t>context+METAR</a:t>
            </a:r>
            <a:endParaRPr lang="en-US" sz="1370" dirty="0"/>
          </a:p>
        </p:txBody>
      </p:sp>
      <p:sp>
        <p:nvSpPr>
          <p:cNvPr id="22" name="Text 20"/>
          <p:cNvSpPr/>
          <p:nvPr/>
        </p:nvSpPr>
        <p:spPr>
          <a:xfrm>
            <a:off x="5230368" y="2615184"/>
            <a:ext cx="1325880" cy="384048"/>
          </a:xfrm>
          <a:prstGeom prst="rect">
            <a:avLst/>
          </a:prstGeom>
          <a:solidFill>
            <a:srgbClr val="F9FBFD"/>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0.690</a:t>
            </a:r>
            <a:endParaRPr lang="en-US" sz="1370" dirty="0"/>
          </a:p>
        </p:txBody>
      </p:sp>
      <p:sp>
        <p:nvSpPr>
          <p:cNvPr id="23" name="Text 21"/>
          <p:cNvSpPr/>
          <p:nvPr/>
        </p:nvSpPr>
        <p:spPr>
          <a:xfrm>
            <a:off x="6556248" y="2615184"/>
            <a:ext cx="1325880" cy="384048"/>
          </a:xfrm>
          <a:prstGeom prst="rect">
            <a:avLst/>
          </a:prstGeom>
          <a:solidFill>
            <a:srgbClr val="F9FBFD"/>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0.0115</a:t>
            </a:r>
            <a:endParaRPr lang="en-US" sz="1370" dirty="0"/>
          </a:p>
        </p:txBody>
      </p:sp>
      <p:sp>
        <p:nvSpPr>
          <p:cNvPr id="24" name="Text 22"/>
          <p:cNvSpPr/>
          <p:nvPr/>
        </p:nvSpPr>
        <p:spPr>
          <a:xfrm>
            <a:off x="7882128" y="2615184"/>
            <a:ext cx="1051560" cy="384048"/>
          </a:xfrm>
          <a:prstGeom prst="rect">
            <a:avLst/>
          </a:prstGeom>
          <a:solidFill>
            <a:srgbClr val="F9FBFD"/>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0.037</a:t>
            </a:r>
            <a:endParaRPr lang="en-US" sz="1370" dirty="0"/>
          </a:p>
        </p:txBody>
      </p:sp>
      <p:sp>
        <p:nvSpPr>
          <p:cNvPr id="25" name="Text 23"/>
          <p:cNvSpPr/>
          <p:nvPr/>
        </p:nvSpPr>
        <p:spPr>
          <a:xfrm>
            <a:off x="658368" y="3035808"/>
            <a:ext cx="2423160" cy="384048"/>
          </a:xfrm>
          <a:prstGeom prst="rect">
            <a:avLst/>
          </a:prstGeom>
          <a:solidFill>
            <a:srgbClr val="FFFFFF"/>
          </a:solidFill>
          <a:ln w="7620">
            <a:solidFill>
              <a:srgbClr val="E2E8F0"/>
            </a:solidFill>
          </a:ln>
        </p:spPr>
        <p:txBody>
          <a:bodyPr wrap="square" lIns="762" tIns="762" rIns="762" bIns="762" rtlCol="0" anchor="ctr">
            <a:normAutofit/>
          </a:bodyPr>
          <a:lstStyle/>
          <a:p>
            <a:pPr algn="l" indent="0" marL="0">
              <a:buNone/>
            </a:pPr>
            <a:r>
              <a:rPr lang="en-US" sz="1370" b="1" dirty="0">
                <a:solidFill>
                  <a:srgbClr val="102A43"/>
                </a:solidFill>
              </a:rPr>
              <a:t>Logistic Reg.</a:t>
            </a:r>
            <a:endParaRPr lang="en-US" sz="1370" dirty="0"/>
          </a:p>
        </p:txBody>
      </p:sp>
      <p:sp>
        <p:nvSpPr>
          <p:cNvPr id="26" name="Text 24"/>
          <p:cNvSpPr/>
          <p:nvPr/>
        </p:nvSpPr>
        <p:spPr>
          <a:xfrm>
            <a:off x="3081528" y="3035808"/>
            <a:ext cx="2148840" cy="384048"/>
          </a:xfrm>
          <a:prstGeom prst="rect">
            <a:avLst/>
          </a:prstGeom>
          <a:solidFill>
            <a:srgbClr val="FFFFFF"/>
          </a:solidFill>
          <a:ln w="7620">
            <a:solidFill>
              <a:srgbClr val="E2E8F0"/>
            </a:solidFill>
          </a:ln>
        </p:spPr>
        <p:txBody>
          <a:bodyPr wrap="square" lIns="762" tIns="762" rIns="762" bIns="762" rtlCol="0" anchor="ctr">
            <a:normAutofit/>
          </a:bodyPr>
          <a:lstStyle/>
          <a:p>
            <a:pPr algn="l" indent="0" marL="0">
              <a:buNone/>
            </a:pPr>
            <a:r>
              <a:rPr lang="en-US" sz="1370" dirty="0">
                <a:solidFill>
                  <a:srgbClr val="102A43"/>
                </a:solidFill>
              </a:rPr>
              <a:t>context+METAR</a:t>
            </a:r>
            <a:endParaRPr lang="en-US" sz="1370" dirty="0"/>
          </a:p>
        </p:txBody>
      </p:sp>
      <p:sp>
        <p:nvSpPr>
          <p:cNvPr id="27" name="Text 25"/>
          <p:cNvSpPr/>
          <p:nvPr/>
        </p:nvSpPr>
        <p:spPr>
          <a:xfrm>
            <a:off x="5230368" y="3035808"/>
            <a:ext cx="1325880" cy="384048"/>
          </a:xfrm>
          <a:prstGeom prst="rect">
            <a:avLst/>
          </a:prstGeom>
          <a:solidFill>
            <a:srgbClr val="FFFFFF"/>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0.691</a:t>
            </a:r>
            <a:endParaRPr lang="en-US" sz="1370" dirty="0"/>
          </a:p>
        </p:txBody>
      </p:sp>
      <p:sp>
        <p:nvSpPr>
          <p:cNvPr id="28" name="Text 26"/>
          <p:cNvSpPr/>
          <p:nvPr/>
        </p:nvSpPr>
        <p:spPr>
          <a:xfrm>
            <a:off x="6556248" y="3035808"/>
            <a:ext cx="1325880" cy="384048"/>
          </a:xfrm>
          <a:prstGeom prst="rect">
            <a:avLst/>
          </a:prstGeom>
          <a:solidFill>
            <a:srgbClr val="FFFFFF"/>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0.0102</a:t>
            </a:r>
            <a:endParaRPr lang="en-US" sz="1370" dirty="0"/>
          </a:p>
        </p:txBody>
      </p:sp>
      <p:sp>
        <p:nvSpPr>
          <p:cNvPr id="29" name="Text 27"/>
          <p:cNvSpPr/>
          <p:nvPr/>
        </p:nvSpPr>
        <p:spPr>
          <a:xfrm>
            <a:off x="7882128" y="3035808"/>
            <a:ext cx="1051560" cy="384048"/>
          </a:xfrm>
          <a:prstGeom prst="rect">
            <a:avLst/>
          </a:prstGeom>
          <a:solidFill>
            <a:srgbClr val="FFFFFF"/>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0.033</a:t>
            </a:r>
            <a:endParaRPr lang="en-US" sz="1370" dirty="0"/>
          </a:p>
        </p:txBody>
      </p:sp>
      <p:sp>
        <p:nvSpPr>
          <p:cNvPr id="30" name="Text 28"/>
          <p:cNvSpPr/>
          <p:nvPr/>
        </p:nvSpPr>
        <p:spPr>
          <a:xfrm>
            <a:off x="658368" y="3456432"/>
            <a:ext cx="2423160" cy="384048"/>
          </a:xfrm>
          <a:prstGeom prst="rect">
            <a:avLst/>
          </a:prstGeom>
          <a:solidFill>
            <a:srgbClr val="F9FBFD"/>
          </a:solidFill>
          <a:ln w="7620">
            <a:solidFill>
              <a:srgbClr val="E2E8F0"/>
            </a:solidFill>
          </a:ln>
        </p:spPr>
        <p:txBody>
          <a:bodyPr wrap="square" lIns="762" tIns="762" rIns="762" bIns="762" rtlCol="0" anchor="ctr">
            <a:normAutofit/>
          </a:bodyPr>
          <a:lstStyle/>
          <a:p>
            <a:pPr algn="l" indent="0" marL="0">
              <a:buNone/>
            </a:pPr>
            <a:r>
              <a:rPr lang="en-US" sz="1370" b="1" dirty="0">
                <a:solidFill>
                  <a:srgbClr val="102A43"/>
                </a:solidFill>
              </a:rPr>
              <a:t>LDA</a:t>
            </a:r>
            <a:endParaRPr lang="en-US" sz="1370" dirty="0"/>
          </a:p>
        </p:txBody>
      </p:sp>
      <p:sp>
        <p:nvSpPr>
          <p:cNvPr id="31" name="Text 29"/>
          <p:cNvSpPr/>
          <p:nvPr/>
        </p:nvSpPr>
        <p:spPr>
          <a:xfrm>
            <a:off x="3081528" y="3456432"/>
            <a:ext cx="2148840" cy="384048"/>
          </a:xfrm>
          <a:prstGeom prst="rect">
            <a:avLst/>
          </a:prstGeom>
          <a:solidFill>
            <a:srgbClr val="F9FBFD"/>
          </a:solidFill>
          <a:ln w="7620">
            <a:solidFill>
              <a:srgbClr val="E2E8F0"/>
            </a:solidFill>
          </a:ln>
        </p:spPr>
        <p:txBody>
          <a:bodyPr wrap="square" lIns="762" tIns="762" rIns="762" bIns="762" rtlCol="0" anchor="ctr">
            <a:normAutofit/>
          </a:bodyPr>
          <a:lstStyle/>
          <a:p>
            <a:pPr algn="l" indent="0" marL="0">
              <a:buNone/>
            </a:pPr>
            <a:r>
              <a:rPr lang="en-US" sz="1370" dirty="0">
                <a:solidFill>
                  <a:srgbClr val="102A43"/>
                </a:solidFill>
              </a:rPr>
              <a:t>context+METAR</a:t>
            </a:r>
            <a:endParaRPr lang="en-US" sz="1370" dirty="0"/>
          </a:p>
        </p:txBody>
      </p:sp>
      <p:sp>
        <p:nvSpPr>
          <p:cNvPr id="32" name="Text 30"/>
          <p:cNvSpPr/>
          <p:nvPr/>
        </p:nvSpPr>
        <p:spPr>
          <a:xfrm>
            <a:off x="5230368" y="3456432"/>
            <a:ext cx="1325880" cy="384048"/>
          </a:xfrm>
          <a:prstGeom prst="rect">
            <a:avLst/>
          </a:prstGeom>
          <a:solidFill>
            <a:srgbClr val="F9FBFD"/>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0.681</a:t>
            </a:r>
            <a:endParaRPr lang="en-US" sz="1370" dirty="0"/>
          </a:p>
        </p:txBody>
      </p:sp>
      <p:sp>
        <p:nvSpPr>
          <p:cNvPr id="33" name="Text 31"/>
          <p:cNvSpPr/>
          <p:nvPr/>
        </p:nvSpPr>
        <p:spPr>
          <a:xfrm>
            <a:off x="6556248" y="3456432"/>
            <a:ext cx="1325880" cy="384048"/>
          </a:xfrm>
          <a:prstGeom prst="rect">
            <a:avLst/>
          </a:prstGeom>
          <a:solidFill>
            <a:srgbClr val="F9FBFD"/>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0.0100</a:t>
            </a:r>
            <a:endParaRPr lang="en-US" sz="1370" dirty="0"/>
          </a:p>
        </p:txBody>
      </p:sp>
      <p:sp>
        <p:nvSpPr>
          <p:cNvPr id="34" name="Text 32"/>
          <p:cNvSpPr/>
          <p:nvPr/>
        </p:nvSpPr>
        <p:spPr>
          <a:xfrm>
            <a:off x="7882128" y="3456432"/>
            <a:ext cx="1051560" cy="384048"/>
          </a:xfrm>
          <a:prstGeom prst="rect">
            <a:avLst/>
          </a:prstGeom>
          <a:solidFill>
            <a:srgbClr val="F9FBFD"/>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0.034</a:t>
            </a:r>
            <a:endParaRPr lang="en-US" sz="1370" dirty="0"/>
          </a:p>
        </p:txBody>
      </p:sp>
      <p:sp>
        <p:nvSpPr>
          <p:cNvPr id="35" name="Text 33"/>
          <p:cNvSpPr/>
          <p:nvPr/>
        </p:nvSpPr>
        <p:spPr>
          <a:xfrm>
            <a:off x="658368" y="3877056"/>
            <a:ext cx="2423160" cy="384048"/>
          </a:xfrm>
          <a:prstGeom prst="rect">
            <a:avLst/>
          </a:prstGeom>
          <a:solidFill>
            <a:srgbClr val="FFFFFF"/>
          </a:solidFill>
          <a:ln w="7620">
            <a:solidFill>
              <a:srgbClr val="E2E8F0"/>
            </a:solidFill>
          </a:ln>
        </p:spPr>
        <p:txBody>
          <a:bodyPr wrap="square" lIns="762" tIns="762" rIns="762" bIns="762" rtlCol="0" anchor="ctr">
            <a:normAutofit/>
          </a:bodyPr>
          <a:lstStyle/>
          <a:p>
            <a:pPr algn="l" indent="0" marL="0">
              <a:buNone/>
            </a:pPr>
            <a:r>
              <a:rPr lang="en-US" sz="1370" b="1" dirty="0">
                <a:solidFill>
                  <a:srgbClr val="102A43"/>
                </a:solidFill>
              </a:rPr>
              <a:t>MLP</a:t>
            </a:r>
            <a:endParaRPr lang="en-US" sz="1370" dirty="0"/>
          </a:p>
        </p:txBody>
      </p:sp>
      <p:sp>
        <p:nvSpPr>
          <p:cNvPr id="36" name="Text 34"/>
          <p:cNvSpPr/>
          <p:nvPr/>
        </p:nvSpPr>
        <p:spPr>
          <a:xfrm>
            <a:off x="3081528" y="3877056"/>
            <a:ext cx="2148840" cy="384048"/>
          </a:xfrm>
          <a:prstGeom prst="rect">
            <a:avLst/>
          </a:prstGeom>
          <a:solidFill>
            <a:srgbClr val="FFFFFF"/>
          </a:solidFill>
          <a:ln w="7620">
            <a:solidFill>
              <a:srgbClr val="E2E8F0"/>
            </a:solidFill>
          </a:ln>
        </p:spPr>
        <p:txBody>
          <a:bodyPr wrap="square" lIns="762" tIns="762" rIns="762" bIns="762" rtlCol="0" anchor="ctr">
            <a:normAutofit/>
          </a:bodyPr>
          <a:lstStyle/>
          <a:p>
            <a:pPr algn="l" indent="0" marL="0">
              <a:buNone/>
            </a:pPr>
            <a:r>
              <a:rPr lang="en-US" sz="1370" dirty="0">
                <a:solidFill>
                  <a:srgbClr val="102A43"/>
                </a:solidFill>
              </a:rPr>
              <a:t>context only</a:t>
            </a:r>
            <a:endParaRPr lang="en-US" sz="1370" dirty="0"/>
          </a:p>
        </p:txBody>
      </p:sp>
      <p:sp>
        <p:nvSpPr>
          <p:cNvPr id="37" name="Text 35"/>
          <p:cNvSpPr/>
          <p:nvPr/>
        </p:nvSpPr>
        <p:spPr>
          <a:xfrm>
            <a:off x="5230368" y="3877056"/>
            <a:ext cx="1325880" cy="384048"/>
          </a:xfrm>
          <a:prstGeom prst="rect">
            <a:avLst/>
          </a:prstGeom>
          <a:solidFill>
            <a:srgbClr val="FFFFFF"/>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0.609</a:t>
            </a:r>
            <a:endParaRPr lang="en-US" sz="1370" dirty="0"/>
          </a:p>
        </p:txBody>
      </p:sp>
      <p:sp>
        <p:nvSpPr>
          <p:cNvPr id="38" name="Text 36"/>
          <p:cNvSpPr/>
          <p:nvPr/>
        </p:nvSpPr>
        <p:spPr>
          <a:xfrm>
            <a:off x="6556248" y="3877056"/>
            <a:ext cx="1325880" cy="384048"/>
          </a:xfrm>
          <a:prstGeom prst="rect">
            <a:avLst/>
          </a:prstGeom>
          <a:solidFill>
            <a:srgbClr val="FFFFFF"/>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0.0123</a:t>
            </a:r>
            <a:endParaRPr lang="en-US" sz="1370" dirty="0"/>
          </a:p>
        </p:txBody>
      </p:sp>
      <p:sp>
        <p:nvSpPr>
          <p:cNvPr id="39" name="Text 37"/>
          <p:cNvSpPr/>
          <p:nvPr/>
        </p:nvSpPr>
        <p:spPr>
          <a:xfrm>
            <a:off x="7882128" y="3877056"/>
            <a:ext cx="1051560" cy="384048"/>
          </a:xfrm>
          <a:prstGeom prst="rect">
            <a:avLst/>
          </a:prstGeom>
          <a:solidFill>
            <a:srgbClr val="FFFFFF"/>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0.037</a:t>
            </a:r>
            <a:endParaRPr lang="en-US" sz="1370" dirty="0"/>
          </a:p>
        </p:txBody>
      </p:sp>
      <p:sp>
        <p:nvSpPr>
          <p:cNvPr id="40" name="Text 38"/>
          <p:cNvSpPr/>
          <p:nvPr/>
        </p:nvSpPr>
        <p:spPr>
          <a:xfrm>
            <a:off x="658368" y="4297680"/>
            <a:ext cx="2423160" cy="384048"/>
          </a:xfrm>
          <a:prstGeom prst="rect">
            <a:avLst/>
          </a:prstGeom>
          <a:solidFill>
            <a:srgbClr val="F9FBFD"/>
          </a:solidFill>
          <a:ln w="7620">
            <a:solidFill>
              <a:srgbClr val="E2E8F0"/>
            </a:solidFill>
          </a:ln>
        </p:spPr>
        <p:txBody>
          <a:bodyPr wrap="square" lIns="762" tIns="762" rIns="762" bIns="762" rtlCol="0" anchor="ctr">
            <a:normAutofit/>
          </a:bodyPr>
          <a:lstStyle/>
          <a:p>
            <a:pPr algn="l" indent="0" marL="0">
              <a:buNone/>
            </a:pPr>
            <a:r>
              <a:rPr lang="en-US" sz="1370" b="1" dirty="0">
                <a:solidFill>
                  <a:srgbClr val="102A43"/>
                </a:solidFill>
              </a:rPr>
              <a:t>Others</a:t>
            </a:r>
            <a:endParaRPr lang="en-US" sz="1370" dirty="0"/>
          </a:p>
        </p:txBody>
      </p:sp>
      <p:sp>
        <p:nvSpPr>
          <p:cNvPr id="41" name="Text 39"/>
          <p:cNvSpPr/>
          <p:nvPr/>
        </p:nvSpPr>
        <p:spPr>
          <a:xfrm>
            <a:off x="3081528" y="4297680"/>
            <a:ext cx="2148840" cy="384048"/>
          </a:xfrm>
          <a:prstGeom prst="rect">
            <a:avLst/>
          </a:prstGeom>
          <a:solidFill>
            <a:srgbClr val="F9FBFD"/>
          </a:solidFill>
          <a:ln w="7620">
            <a:solidFill>
              <a:srgbClr val="E2E8F0"/>
            </a:solidFill>
          </a:ln>
        </p:spPr>
        <p:txBody>
          <a:bodyPr wrap="square" lIns="762" tIns="762" rIns="762" bIns="762" rtlCol="0" anchor="ctr">
            <a:normAutofit/>
          </a:bodyPr>
          <a:lstStyle/>
          <a:p>
            <a:pPr algn="l" indent="0" marL="0">
              <a:buNone/>
            </a:pPr>
            <a:r>
              <a:rPr lang="en-US" sz="1370" dirty="0">
                <a:solidFill>
                  <a:srgbClr val="102A43"/>
                </a:solidFill>
              </a:rPr>
              <a:t>context only</a:t>
            </a:r>
            <a:endParaRPr lang="en-US" sz="1370" dirty="0"/>
          </a:p>
        </p:txBody>
      </p:sp>
      <p:sp>
        <p:nvSpPr>
          <p:cNvPr id="42" name="Text 40"/>
          <p:cNvSpPr/>
          <p:nvPr/>
        </p:nvSpPr>
        <p:spPr>
          <a:xfrm>
            <a:off x="5230368" y="4297680"/>
            <a:ext cx="1325880" cy="384048"/>
          </a:xfrm>
          <a:prstGeom prst="rect">
            <a:avLst/>
          </a:prstGeom>
          <a:solidFill>
            <a:srgbClr val="F9FBFD"/>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~0.63</a:t>
            </a:r>
            <a:endParaRPr lang="en-US" sz="1370" dirty="0"/>
          </a:p>
        </p:txBody>
      </p:sp>
      <p:sp>
        <p:nvSpPr>
          <p:cNvPr id="43" name="Text 41"/>
          <p:cNvSpPr/>
          <p:nvPr/>
        </p:nvSpPr>
        <p:spPr>
          <a:xfrm>
            <a:off x="6556248" y="4297680"/>
            <a:ext cx="1325880" cy="384048"/>
          </a:xfrm>
          <a:prstGeom prst="rect">
            <a:avLst/>
          </a:prstGeom>
          <a:solidFill>
            <a:srgbClr val="F9FBFD"/>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~0.008</a:t>
            </a:r>
            <a:endParaRPr lang="en-US" sz="1370" dirty="0"/>
          </a:p>
        </p:txBody>
      </p:sp>
      <p:sp>
        <p:nvSpPr>
          <p:cNvPr id="44" name="Text 42"/>
          <p:cNvSpPr/>
          <p:nvPr/>
        </p:nvSpPr>
        <p:spPr>
          <a:xfrm>
            <a:off x="7882128" y="4297680"/>
            <a:ext cx="1051560" cy="384048"/>
          </a:xfrm>
          <a:prstGeom prst="rect">
            <a:avLst/>
          </a:prstGeom>
          <a:solidFill>
            <a:srgbClr val="F9FBFD"/>
          </a:solidFill>
          <a:ln w="7620">
            <a:solidFill>
              <a:srgbClr val="E2E8F0"/>
            </a:solidFill>
          </a:ln>
        </p:spPr>
        <p:txBody>
          <a:bodyPr wrap="square" lIns="762" tIns="762" rIns="762" bIns="762" rtlCol="0" anchor="ctr">
            <a:normAutofit/>
          </a:bodyPr>
          <a:lstStyle/>
          <a:p>
            <a:pPr algn="ctr" indent="0" marL="0">
              <a:buNone/>
            </a:pPr>
            <a:r>
              <a:rPr lang="en-US" sz="1370" dirty="0">
                <a:solidFill>
                  <a:srgbClr val="102A43"/>
                </a:solidFill>
              </a:rPr>
              <a:t>~0.025</a:t>
            </a:r>
            <a:endParaRPr lang="en-US" sz="1370" dirty="0"/>
          </a:p>
        </p:txBody>
      </p:sp>
      <p:sp>
        <p:nvSpPr>
          <p:cNvPr id="45" name="Text 43"/>
          <p:cNvSpPr/>
          <p:nvPr/>
        </p:nvSpPr>
        <p:spPr>
          <a:xfrm>
            <a:off x="9235440" y="1417320"/>
            <a:ext cx="2331720" cy="1234440"/>
          </a:xfrm>
          <a:prstGeom prst="rect">
            <a:avLst/>
          </a:prstGeom>
          <a:solidFill>
            <a:srgbClr val="FFF7ED"/>
          </a:solidFill>
          <a:ln w="13970">
            <a:solidFill>
              <a:srgbClr val="F28C28"/>
            </a:solidFill>
          </a:ln>
        </p:spPr>
        <p:txBody>
          <a:bodyPr wrap="square" lIns="1651" tIns="1651" rIns="1651" bIns="1651" rtlCol="0" anchor="ctr">
            <a:normAutofit/>
          </a:bodyPr>
          <a:lstStyle/>
          <a:p>
            <a:pPr indent="0" marL="0">
              <a:buNone/>
            </a:pPr>
            <a:r>
              <a:rPr lang="en-US" sz="1800" dirty="0">
                <a:solidFill>
                  <a:srgbClr val="102A43"/>
                </a:solidFill>
              </a:rPr>
              <a:t>No-skill baseline PR-AUC ≈ 0.0035</a:t>
            </a:r>
            <a:endParaRPr lang="en-US" sz="1800" dirty="0"/>
          </a:p>
          <a:p>
            <a:pPr indent="0" marL="0">
              <a:buNone/>
            </a:pPr>
            <a:r>
              <a:rPr lang="en-US" sz="1800" dirty="0">
                <a:solidFill>
                  <a:srgbClr val="102A43"/>
                </a:solidFill>
              </a:rPr>
              <a:t>Best model: 4.6× above baseline</a:t>
            </a:r>
            <a:endParaRPr lang="en-US" sz="1800" dirty="0"/>
          </a:p>
        </p:txBody>
      </p:sp>
      <p:sp>
        <p:nvSpPr>
          <p:cNvPr id="46" name="Text 44"/>
          <p:cNvSpPr/>
          <p:nvPr/>
        </p:nvSpPr>
        <p:spPr>
          <a:xfrm>
            <a:off x="9235440" y="2880360"/>
            <a:ext cx="2331720" cy="1078992"/>
          </a:xfrm>
          <a:prstGeom prst="rect">
            <a:avLst/>
          </a:prstGeom>
          <a:solidFill>
            <a:srgbClr val="EAF4FF"/>
          </a:solidFill>
          <a:ln w="13970">
            <a:solidFill>
              <a:srgbClr val="1677BB"/>
            </a:solidFill>
          </a:ln>
        </p:spPr>
        <p:txBody>
          <a:bodyPr wrap="square" lIns="1651" tIns="1651" rIns="1651" bIns="1651" rtlCol="0" anchor="ctr">
            <a:normAutofit/>
          </a:bodyPr>
          <a:lstStyle/>
          <a:p>
            <a:pPr indent="0" marL="0">
              <a:buNone/>
            </a:pPr>
            <a:r>
              <a:rPr lang="en-US" sz="1600" dirty="0">
                <a:solidFill>
                  <a:srgbClr val="102A43"/>
                </a:solidFill>
              </a:rPr>
              <a:t>Primary selection metric: PR-AUC</a:t>
            </a:r>
            <a:endParaRPr lang="en-US" sz="1600" dirty="0"/>
          </a:p>
          <a:p>
            <a:pPr indent="0" marL="0">
              <a:buNone/>
            </a:pPr>
            <a:r>
              <a:rPr lang="en-US" sz="1600" dirty="0">
                <a:solidFill>
                  <a:srgbClr val="102A43"/>
                </a:solidFill>
              </a:rPr>
              <a:t>because go-arounds are rare.</a:t>
            </a:r>
            <a:endParaRPr lang="en-US" sz="1600" dirty="0"/>
          </a:p>
        </p:txBody>
      </p:sp>
      <p:sp>
        <p:nvSpPr>
          <p:cNvPr id="47" name="Text 45"/>
          <p:cNvSpPr/>
          <p:nvPr/>
        </p:nvSpPr>
        <p:spPr>
          <a:xfrm>
            <a:off x="749808" y="5349240"/>
            <a:ext cx="10515600" cy="384048"/>
          </a:xfrm>
          <a:prstGeom prst="rect">
            <a:avLst/>
          </a:prstGeom>
          <a:noFill/>
          <a:ln/>
        </p:spPr>
        <p:txBody>
          <a:bodyPr wrap="square" lIns="0" tIns="0" rIns="0" bIns="0" rtlCol="0" anchor="ctr"/>
          <a:lstStyle/>
          <a:p>
            <a:pPr algn="ctr" indent="0" marL="0">
              <a:buNone/>
            </a:pPr>
            <a:r>
              <a:rPr lang="en-US" sz="1720" b="1" dirty="0">
                <a:solidFill>
                  <a:srgbClr val="102A43"/>
                </a:solidFill>
              </a:rPr>
              <a:t>ROC-AUC can look acceptable even when false alarms dominate. PR-AUC exposes rare-event retrieval quality.</a:t>
            </a:r>
            <a:endParaRPr lang="en-US" sz="1720" dirty="0"/>
          </a:p>
        </p:txBody>
      </p:sp>
      <p:sp>
        <p:nvSpPr>
          <p:cNvPr id="48" name="Text 46"/>
          <p:cNvSpPr/>
          <p:nvPr/>
        </p:nvSpPr>
        <p:spPr>
          <a:xfrm>
            <a:off x="502920" y="6519672"/>
            <a:ext cx="11155680" cy="228600"/>
          </a:xfrm>
          <a:prstGeom prst="rect">
            <a:avLst/>
          </a:prstGeom>
          <a:noFill/>
          <a:ln/>
        </p:spPr>
        <p:txBody>
          <a:bodyPr wrap="square" lIns="0" tIns="0" rIns="0" bIns="0" rtlCol="0" anchor="ctr"/>
          <a:lstStyle/>
          <a:p>
            <a:pPr algn="r" indent="0" marL="0">
              <a:buNone/>
            </a:pPr>
            <a:r>
              <a:rPr lang="en-US" sz="850" dirty="0">
                <a:solidFill>
                  <a:srgbClr val="718096"/>
                </a:solidFill>
              </a:rPr>
              <a:t>BBL514E Pattern Recognition  |  Go-Around Classification  |  6/10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4389120" cy="219456"/>
          </a:xfrm>
          <a:prstGeom prst="rect">
            <a:avLst/>
          </a:prstGeom>
          <a:noFill/>
          <a:ln/>
        </p:spPr>
        <p:txBody>
          <a:bodyPr wrap="square" lIns="0" tIns="0" rIns="0" bIns="0" rtlCol="0" anchor="ctr"/>
          <a:lstStyle/>
          <a:p>
            <a:pPr indent="0" marL="0">
              <a:buNone/>
            </a:pPr>
            <a:r>
              <a:rPr lang="en-US" sz="1050" b="1" dirty="0">
                <a:solidFill>
                  <a:srgbClr val="1677BB"/>
                </a:solidFill>
                <a:latin typeface="Aptos" pitchFamily="34" charset="0"/>
                <a:ea typeface="Aptos" pitchFamily="34" charset="-122"/>
                <a:cs typeface="Aptos" pitchFamily="34" charset="-120"/>
              </a:rPr>
              <a:t>RESULTS</a:t>
            </a:r>
            <a:endParaRPr lang="en-US" sz="1050" dirty="0"/>
          </a:p>
        </p:txBody>
      </p:sp>
      <p:sp>
        <p:nvSpPr>
          <p:cNvPr id="3" name="Text 1"/>
          <p:cNvSpPr/>
          <p:nvPr/>
        </p:nvSpPr>
        <p:spPr>
          <a:xfrm>
            <a:off x="502920" y="530352"/>
            <a:ext cx="11064240" cy="502920"/>
          </a:xfrm>
          <a:prstGeom prst="rect">
            <a:avLst/>
          </a:prstGeom>
          <a:noFill/>
          <a:ln/>
        </p:spPr>
        <p:txBody>
          <a:bodyPr wrap="square" lIns="0" tIns="0" rIns="0" bIns="0" rtlCol="0" anchor="ctr"/>
          <a:lstStyle/>
          <a:p>
            <a:pPr indent="0" marL="0">
              <a:buNone/>
            </a:pPr>
            <a:r>
              <a:rPr lang="en-US" sz="3050" b="1" dirty="0">
                <a:solidFill>
                  <a:srgbClr val="102A43"/>
                </a:solidFill>
                <a:latin typeface="Aptos Display" pitchFamily="34" charset="0"/>
                <a:ea typeface="Aptos Display" pitchFamily="34" charset="-122"/>
                <a:cs typeface="Aptos Display" pitchFamily="34" charset="-120"/>
              </a:rPr>
              <a:t>Key Finding — METAR Weather Features Help</a:t>
            </a:r>
            <a:endParaRPr lang="en-US" sz="3050" dirty="0"/>
          </a:p>
        </p:txBody>
      </p:sp>
      <p:sp>
        <p:nvSpPr>
          <p:cNvPr id="4" name="Shape 2"/>
          <p:cNvSpPr/>
          <p:nvPr/>
        </p:nvSpPr>
        <p:spPr>
          <a:xfrm>
            <a:off x="502920" y="1115568"/>
            <a:ext cx="11064240" cy="0"/>
          </a:xfrm>
          <a:prstGeom prst="line">
            <a:avLst/>
          </a:prstGeom>
          <a:noFill/>
          <a:ln w="12700">
            <a:solidFill>
              <a:srgbClr val="D9E2EC"/>
            </a:solidFill>
            <a:prstDash val="solid"/>
          </a:ln>
        </p:spPr>
      </p:sp>
      <p:sp>
        <p:nvSpPr>
          <p:cNvPr id="5" name="Text 3"/>
          <p:cNvSpPr/>
          <p:nvPr/>
        </p:nvSpPr>
        <p:spPr>
          <a:xfrm>
            <a:off x="731520" y="1307592"/>
            <a:ext cx="6766560" cy="292608"/>
          </a:xfrm>
          <a:prstGeom prst="rect">
            <a:avLst/>
          </a:prstGeom>
          <a:noFill/>
          <a:ln/>
        </p:spPr>
        <p:txBody>
          <a:bodyPr wrap="square" lIns="0" tIns="0" rIns="0" bIns="0" rtlCol="0" anchor="ctr"/>
          <a:lstStyle/>
          <a:p>
            <a:pPr indent="0" marL="0">
              <a:buNone/>
            </a:pPr>
            <a:r>
              <a:rPr lang="en-US" sz="1700" b="1" dirty="0">
                <a:solidFill>
                  <a:srgbClr val="102A43"/>
                </a:solidFill>
              </a:rPr>
              <a:t>PR-AUC relative gain from adding weather variables</a:t>
            </a:r>
            <a:endParaRPr lang="en-US" sz="1700" dirty="0"/>
          </a:p>
        </p:txBody>
      </p:sp>
      <p:sp>
        <p:nvSpPr>
          <p:cNvPr id="6" name="Text 4"/>
          <p:cNvSpPr/>
          <p:nvPr/>
        </p:nvSpPr>
        <p:spPr>
          <a:xfrm>
            <a:off x="777240" y="1874520"/>
            <a:ext cx="1645920" cy="292608"/>
          </a:xfrm>
          <a:prstGeom prst="rect">
            <a:avLst/>
          </a:prstGeom>
          <a:noFill/>
          <a:ln/>
        </p:spPr>
        <p:txBody>
          <a:bodyPr wrap="square" lIns="0" tIns="0" rIns="0" bIns="0" rtlCol="0" anchor="ctr"/>
          <a:lstStyle/>
          <a:p>
            <a:pPr indent="0" marL="0">
              <a:buNone/>
            </a:pPr>
            <a:r>
              <a:rPr lang="en-US" sz="1550" b="1" dirty="0">
                <a:solidFill>
                  <a:srgbClr val="102A43"/>
                </a:solidFill>
              </a:rPr>
              <a:t>MLP</a:t>
            </a:r>
            <a:endParaRPr lang="en-US" sz="1550" dirty="0"/>
          </a:p>
        </p:txBody>
      </p:sp>
      <p:sp>
        <p:nvSpPr>
          <p:cNvPr id="7" name="Shape 5"/>
          <p:cNvSpPr/>
          <p:nvPr/>
        </p:nvSpPr>
        <p:spPr>
          <a:xfrm>
            <a:off x="2514600" y="1911096"/>
            <a:ext cx="4389120" cy="201168"/>
          </a:xfrm>
          <a:prstGeom prst="rect">
            <a:avLst/>
          </a:prstGeom>
          <a:solidFill>
            <a:srgbClr val="E2E8F0"/>
          </a:solidFill>
          <a:ln w="12700">
            <a:solidFill>
              <a:srgbClr val="333333">
                <a:alpha val="0"/>
              </a:srgbClr>
            </a:solidFill>
            <a:prstDash val="solid"/>
          </a:ln>
        </p:spPr>
      </p:sp>
      <p:sp>
        <p:nvSpPr>
          <p:cNvPr id="8" name="Shape 6"/>
          <p:cNvSpPr/>
          <p:nvPr/>
        </p:nvSpPr>
        <p:spPr>
          <a:xfrm>
            <a:off x="2514600" y="1911096"/>
            <a:ext cx="2633472" cy="201168"/>
          </a:xfrm>
          <a:prstGeom prst="rect">
            <a:avLst/>
          </a:prstGeom>
          <a:solidFill>
            <a:srgbClr val="F28C28"/>
          </a:solidFill>
          <a:ln w="12700">
            <a:solidFill>
              <a:srgbClr val="333333">
                <a:alpha val="0"/>
              </a:srgbClr>
            </a:solidFill>
            <a:prstDash val="solid"/>
          </a:ln>
        </p:spPr>
      </p:sp>
      <p:sp>
        <p:nvSpPr>
          <p:cNvPr id="9" name="Text 7"/>
          <p:cNvSpPr/>
          <p:nvPr/>
        </p:nvSpPr>
        <p:spPr>
          <a:xfrm>
            <a:off x="7086600" y="1828800"/>
            <a:ext cx="960120" cy="292608"/>
          </a:xfrm>
          <a:prstGeom prst="rect">
            <a:avLst/>
          </a:prstGeom>
          <a:noFill/>
          <a:ln/>
        </p:spPr>
        <p:txBody>
          <a:bodyPr wrap="square" lIns="0" tIns="0" rIns="0" bIns="0" rtlCol="0" anchor="ctr"/>
          <a:lstStyle/>
          <a:p>
            <a:pPr indent="0" marL="0">
              <a:buNone/>
            </a:pPr>
            <a:r>
              <a:rPr lang="en-US" sz="1650" b="1" dirty="0">
                <a:solidFill>
                  <a:srgbClr val="F28C28"/>
                </a:solidFill>
              </a:rPr>
              <a:t>+30%</a:t>
            </a:r>
            <a:endParaRPr lang="en-US" sz="1650" dirty="0"/>
          </a:p>
        </p:txBody>
      </p:sp>
      <p:sp>
        <p:nvSpPr>
          <p:cNvPr id="10" name="Text 8"/>
          <p:cNvSpPr/>
          <p:nvPr/>
        </p:nvSpPr>
        <p:spPr>
          <a:xfrm>
            <a:off x="777240" y="2670048"/>
            <a:ext cx="1645920" cy="292608"/>
          </a:xfrm>
          <a:prstGeom prst="rect">
            <a:avLst/>
          </a:prstGeom>
          <a:noFill/>
          <a:ln/>
        </p:spPr>
        <p:txBody>
          <a:bodyPr wrap="square" lIns="0" tIns="0" rIns="0" bIns="0" rtlCol="0" anchor="ctr"/>
          <a:lstStyle/>
          <a:p>
            <a:pPr indent="0" marL="0">
              <a:buNone/>
            </a:pPr>
            <a:r>
              <a:rPr lang="en-US" sz="1550" b="1" dirty="0">
                <a:solidFill>
                  <a:srgbClr val="102A43"/>
                </a:solidFill>
              </a:rPr>
              <a:t>LightGBM</a:t>
            </a:r>
            <a:endParaRPr lang="en-US" sz="1550" dirty="0"/>
          </a:p>
        </p:txBody>
      </p:sp>
      <p:sp>
        <p:nvSpPr>
          <p:cNvPr id="11" name="Shape 9"/>
          <p:cNvSpPr/>
          <p:nvPr/>
        </p:nvSpPr>
        <p:spPr>
          <a:xfrm>
            <a:off x="2514600" y="2706624"/>
            <a:ext cx="4389120" cy="201168"/>
          </a:xfrm>
          <a:prstGeom prst="rect">
            <a:avLst/>
          </a:prstGeom>
          <a:solidFill>
            <a:srgbClr val="E2E8F0"/>
          </a:solidFill>
          <a:ln w="12700">
            <a:solidFill>
              <a:srgbClr val="333333">
                <a:alpha val="0"/>
              </a:srgbClr>
            </a:solidFill>
            <a:prstDash val="solid"/>
          </a:ln>
        </p:spPr>
      </p:sp>
      <p:sp>
        <p:nvSpPr>
          <p:cNvPr id="12" name="Shape 10"/>
          <p:cNvSpPr/>
          <p:nvPr/>
        </p:nvSpPr>
        <p:spPr>
          <a:xfrm>
            <a:off x="2514600" y="2706624"/>
            <a:ext cx="3335731" cy="201168"/>
          </a:xfrm>
          <a:prstGeom prst="rect">
            <a:avLst/>
          </a:prstGeom>
          <a:solidFill>
            <a:srgbClr val="F28C28"/>
          </a:solidFill>
          <a:ln w="12700">
            <a:solidFill>
              <a:srgbClr val="333333">
                <a:alpha val="0"/>
              </a:srgbClr>
            </a:solidFill>
            <a:prstDash val="solid"/>
          </a:ln>
        </p:spPr>
      </p:sp>
      <p:sp>
        <p:nvSpPr>
          <p:cNvPr id="13" name="Text 11"/>
          <p:cNvSpPr/>
          <p:nvPr/>
        </p:nvSpPr>
        <p:spPr>
          <a:xfrm>
            <a:off x="7086600" y="2624328"/>
            <a:ext cx="960120" cy="292608"/>
          </a:xfrm>
          <a:prstGeom prst="rect">
            <a:avLst/>
          </a:prstGeom>
          <a:noFill/>
          <a:ln/>
        </p:spPr>
        <p:txBody>
          <a:bodyPr wrap="square" lIns="0" tIns="0" rIns="0" bIns="0" rtlCol="0" anchor="ctr"/>
          <a:lstStyle/>
          <a:p>
            <a:pPr indent="0" marL="0">
              <a:buNone/>
            </a:pPr>
            <a:r>
              <a:rPr lang="en-US" sz="1650" b="1" dirty="0">
                <a:solidFill>
                  <a:srgbClr val="F28C28"/>
                </a:solidFill>
              </a:rPr>
              <a:t>+38%</a:t>
            </a:r>
            <a:endParaRPr lang="en-US" sz="1650" dirty="0"/>
          </a:p>
        </p:txBody>
      </p:sp>
      <p:sp>
        <p:nvSpPr>
          <p:cNvPr id="14" name="Text 12"/>
          <p:cNvSpPr/>
          <p:nvPr/>
        </p:nvSpPr>
        <p:spPr>
          <a:xfrm>
            <a:off x="777240" y="3465576"/>
            <a:ext cx="1645920" cy="292608"/>
          </a:xfrm>
          <a:prstGeom prst="rect">
            <a:avLst/>
          </a:prstGeom>
          <a:noFill/>
          <a:ln/>
        </p:spPr>
        <p:txBody>
          <a:bodyPr wrap="square" lIns="0" tIns="0" rIns="0" bIns="0" rtlCol="0" anchor="ctr"/>
          <a:lstStyle/>
          <a:p>
            <a:pPr indent="0" marL="0">
              <a:buNone/>
            </a:pPr>
            <a:r>
              <a:rPr lang="en-US" sz="1550" b="1" dirty="0">
                <a:solidFill>
                  <a:srgbClr val="102A43"/>
                </a:solidFill>
              </a:rPr>
              <a:t>Logistic Reg.</a:t>
            </a:r>
            <a:endParaRPr lang="en-US" sz="1550" dirty="0"/>
          </a:p>
        </p:txBody>
      </p:sp>
      <p:sp>
        <p:nvSpPr>
          <p:cNvPr id="15" name="Shape 13"/>
          <p:cNvSpPr/>
          <p:nvPr/>
        </p:nvSpPr>
        <p:spPr>
          <a:xfrm>
            <a:off x="2514600" y="3502152"/>
            <a:ext cx="4389120" cy="201168"/>
          </a:xfrm>
          <a:prstGeom prst="rect">
            <a:avLst/>
          </a:prstGeom>
          <a:solidFill>
            <a:srgbClr val="E2E8F0"/>
          </a:solidFill>
          <a:ln w="12700">
            <a:solidFill>
              <a:srgbClr val="333333">
                <a:alpha val="0"/>
              </a:srgbClr>
            </a:solidFill>
            <a:prstDash val="solid"/>
          </a:ln>
        </p:spPr>
      </p:sp>
      <p:sp>
        <p:nvSpPr>
          <p:cNvPr id="16" name="Shape 14"/>
          <p:cNvSpPr/>
          <p:nvPr/>
        </p:nvSpPr>
        <p:spPr>
          <a:xfrm>
            <a:off x="2514600" y="3502152"/>
            <a:ext cx="4037990" cy="201168"/>
          </a:xfrm>
          <a:prstGeom prst="rect">
            <a:avLst/>
          </a:prstGeom>
          <a:solidFill>
            <a:srgbClr val="F28C28"/>
          </a:solidFill>
          <a:ln w="12700">
            <a:solidFill>
              <a:srgbClr val="333333">
                <a:alpha val="0"/>
              </a:srgbClr>
            </a:solidFill>
            <a:prstDash val="solid"/>
          </a:ln>
        </p:spPr>
      </p:sp>
      <p:sp>
        <p:nvSpPr>
          <p:cNvPr id="17" name="Text 15"/>
          <p:cNvSpPr/>
          <p:nvPr/>
        </p:nvSpPr>
        <p:spPr>
          <a:xfrm>
            <a:off x="7086600" y="3419856"/>
            <a:ext cx="960120" cy="292608"/>
          </a:xfrm>
          <a:prstGeom prst="rect">
            <a:avLst/>
          </a:prstGeom>
          <a:noFill/>
          <a:ln/>
        </p:spPr>
        <p:txBody>
          <a:bodyPr wrap="square" lIns="0" tIns="0" rIns="0" bIns="0" rtlCol="0" anchor="ctr"/>
          <a:lstStyle/>
          <a:p>
            <a:pPr indent="0" marL="0">
              <a:buNone/>
            </a:pPr>
            <a:r>
              <a:rPr lang="en-US" sz="1650" b="1" dirty="0">
                <a:solidFill>
                  <a:srgbClr val="F28C28"/>
                </a:solidFill>
              </a:rPr>
              <a:t>+46%</a:t>
            </a:r>
            <a:endParaRPr lang="en-US" sz="1650" dirty="0"/>
          </a:p>
        </p:txBody>
      </p:sp>
      <p:sp>
        <p:nvSpPr>
          <p:cNvPr id="18" name="Text 16"/>
          <p:cNvSpPr/>
          <p:nvPr/>
        </p:nvSpPr>
        <p:spPr>
          <a:xfrm>
            <a:off x="777240" y="4261104"/>
            <a:ext cx="1645920" cy="292608"/>
          </a:xfrm>
          <a:prstGeom prst="rect">
            <a:avLst/>
          </a:prstGeom>
          <a:noFill/>
          <a:ln/>
        </p:spPr>
        <p:txBody>
          <a:bodyPr wrap="square" lIns="0" tIns="0" rIns="0" bIns="0" rtlCol="0" anchor="ctr"/>
          <a:lstStyle/>
          <a:p>
            <a:pPr indent="0" marL="0">
              <a:buNone/>
            </a:pPr>
            <a:r>
              <a:rPr lang="en-US" sz="1550" b="1" dirty="0">
                <a:solidFill>
                  <a:srgbClr val="102A43"/>
                </a:solidFill>
              </a:rPr>
              <a:t>LDA</a:t>
            </a:r>
            <a:endParaRPr lang="en-US" sz="1550" dirty="0"/>
          </a:p>
        </p:txBody>
      </p:sp>
      <p:sp>
        <p:nvSpPr>
          <p:cNvPr id="19" name="Shape 17"/>
          <p:cNvSpPr/>
          <p:nvPr/>
        </p:nvSpPr>
        <p:spPr>
          <a:xfrm>
            <a:off x="2514600" y="4297680"/>
            <a:ext cx="4389120" cy="201168"/>
          </a:xfrm>
          <a:prstGeom prst="rect">
            <a:avLst/>
          </a:prstGeom>
          <a:solidFill>
            <a:srgbClr val="E2E8F0"/>
          </a:solidFill>
          <a:ln w="12700">
            <a:solidFill>
              <a:srgbClr val="333333">
                <a:alpha val="0"/>
              </a:srgbClr>
            </a:solidFill>
            <a:prstDash val="solid"/>
          </a:ln>
        </p:spPr>
      </p:sp>
      <p:sp>
        <p:nvSpPr>
          <p:cNvPr id="20" name="Shape 18"/>
          <p:cNvSpPr/>
          <p:nvPr/>
        </p:nvSpPr>
        <p:spPr>
          <a:xfrm>
            <a:off x="2514600" y="4297680"/>
            <a:ext cx="2896819" cy="201168"/>
          </a:xfrm>
          <a:prstGeom prst="rect">
            <a:avLst/>
          </a:prstGeom>
          <a:solidFill>
            <a:srgbClr val="F28C28"/>
          </a:solidFill>
          <a:ln w="12700">
            <a:solidFill>
              <a:srgbClr val="333333">
                <a:alpha val="0"/>
              </a:srgbClr>
            </a:solidFill>
            <a:prstDash val="solid"/>
          </a:ln>
        </p:spPr>
      </p:sp>
      <p:sp>
        <p:nvSpPr>
          <p:cNvPr id="21" name="Text 19"/>
          <p:cNvSpPr/>
          <p:nvPr/>
        </p:nvSpPr>
        <p:spPr>
          <a:xfrm>
            <a:off x="7086600" y="4215384"/>
            <a:ext cx="960120" cy="292608"/>
          </a:xfrm>
          <a:prstGeom prst="rect">
            <a:avLst/>
          </a:prstGeom>
          <a:noFill/>
          <a:ln/>
        </p:spPr>
        <p:txBody>
          <a:bodyPr wrap="square" lIns="0" tIns="0" rIns="0" bIns="0" rtlCol="0" anchor="ctr"/>
          <a:lstStyle/>
          <a:p>
            <a:pPr indent="0" marL="0">
              <a:buNone/>
            </a:pPr>
            <a:r>
              <a:rPr lang="en-US" sz="1650" b="1" dirty="0">
                <a:solidFill>
                  <a:srgbClr val="F28C28"/>
                </a:solidFill>
              </a:rPr>
              <a:t>+33%</a:t>
            </a:r>
            <a:endParaRPr lang="en-US" sz="1650" dirty="0"/>
          </a:p>
        </p:txBody>
      </p:sp>
      <p:pic>
        <p:nvPicPr>
          <p:cNvPr id="22" name="Image 0" descr="/mnt/data/precision_recall_curve.png">    </p:cNvPr>
          <p:cNvPicPr>
            <a:picLocks noChangeAspect="1"/>
          </p:cNvPicPr>
          <p:nvPr/>
        </p:nvPicPr>
        <p:blipFill>
          <a:blip r:embed="rId1"/>
          <a:stretch>
            <a:fillRect/>
          </a:stretch>
        </p:blipFill>
        <p:spPr>
          <a:xfrm>
            <a:off x="8549640" y="1623060"/>
            <a:ext cx="2743200" cy="2286000"/>
          </a:xfrm>
          <a:prstGeom prst="rect">
            <a:avLst/>
          </a:prstGeom>
        </p:spPr>
      </p:pic>
      <p:sp>
        <p:nvSpPr>
          <p:cNvPr id="23" name="Text 20"/>
          <p:cNvSpPr/>
          <p:nvPr/>
        </p:nvSpPr>
        <p:spPr>
          <a:xfrm>
            <a:off x="822960" y="5074920"/>
            <a:ext cx="10469880" cy="640080"/>
          </a:xfrm>
          <a:prstGeom prst="rect">
            <a:avLst/>
          </a:prstGeom>
          <a:solidFill>
            <a:srgbClr val="FFF1E3"/>
          </a:solidFill>
          <a:ln w="13970">
            <a:solidFill>
              <a:srgbClr val="F28C28"/>
            </a:solidFill>
          </a:ln>
        </p:spPr>
        <p:txBody>
          <a:bodyPr wrap="square" lIns="1651" tIns="1651" rIns="1651" bIns="1651" rtlCol="0" anchor="ctr">
            <a:normAutofit/>
          </a:bodyPr>
          <a:lstStyle/>
          <a:p>
            <a:pPr indent="0" marL="0">
              <a:buNone/>
            </a:pPr>
            <a:r>
              <a:rPr lang="en-US" sz="1800" dirty="0">
                <a:solidFill>
                  <a:srgbClr val="102A43"/>
                </a:solidFill>
              </a:rPr>
              <a:t>Weather adds independent signal: wind, visibility, pressure, and coded conditions help all model families.</a:t>
            </a:r>
            <a:endParaRPr lang="en-US" sz="1800" dirty="0"/>
          </a:p>
        </p:txBody>
      </p:sp>
      <p:sp>
        <p:nvSpPr>
          <p:cNvPr id="24" name="Text 21"/>
          <p:cNvSpPr/>
          <p:nvPr/>
        </p:nvSpPr>
        <p:spPr>
          <a:xfrm>
            <a:off x="502920" y="6519672"/>
            <a:ext cx="11155680" cy="228600"/>
          </a:xfrm>
          <a:prstGeom prst="rect">
            <a:avLst/>
          </a:prstGeom>
          <a:noFill/>
          <a:ln/>
        </p:spPr>
        <p:txBody>
          <a:bodyPr wrap="square" lIns="0" tIns="0" rIns="0" bIns="0" rtlCol="0" anchor="ctr"/>
          <a:lstStyle/>
          <a:p>
            <a:pPr algn="r" indent="0" marL="0">
              <a:buNone/>
            </a:pPr>
            <a:r>
              <a:rPr lang="en-US" sz="850" dirty="0">
                <a:solidFill>
                  <a:srgbClr val="718096"/>
                </a:solidFill>
              </a:rPr>
              <a:t>BBL514E Pattern Recognition  |  Go-Around Classification  |  7/10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4389120" cy="219456"/>
          </a:xfrm>
          <a:prstGeom prst="rect">
            <a:avLst/>
          </a:prstGeom>
          <a:noFill/>
          <a:ln/>
        </p:spPr>
        <p:txBody>
          <a:bodyPr wrap="square" lIns="0" tIns="0" rIns="0" bIns="0" rtlCol="0" anchor="ctr"/>
          <a:lstStyle/>
          <a:p>
            <a:pPr indent="0" marL="0">
              <a:buNone/>
            </a:pPr>
            <a:r>
              <a:rPr lang="en-US" sz="1050" b="1" dirty="0">
                <a:solidFill>
                  <a:srgbClr val="1677BB"/>
                </a:solidFill>
                <a:latin typeface="Aptos" pitchFamily="34" charset="0"/>
                <a:ea typeface="Aptos" pitchFamily="34" charset="-122"/>
                <a:cs typeface="Aptos" pitchFamily="34" charset="-120"/>
              </a:rPr>
              <a:t>RESULTS</a:t>
            </a:r>
            <a:endParaRPr lang="en-US" sz="1050" dirty="0"/>
          </a:p>
        </p:txBody>
      </p:sp>
      <p:sp>
        <p:nvSpPr>
          <p:cNvPr id="3" name="Text 1"/>
          <p:cNvSpPr/>
          <p:nvPr/>
        </p:nvSpPr>
        <p:spPr>
          <a:xfrm>
            <a:off x="502920" y="530352"/>
            <a:ext cx="11064240" cy="502920"/>
          </a:xfrm>
          <a:prstGeom prst="rect">
            <a:avLst/>
          </a:prstGeom>
          <a:noFill/>
          <a:ln/>
        </p:spPr>
        <p:txBody>
          <a:bodyPr wrap="square" lIns="0" tIns="0" rIns="0" bIns="0" rtlCol="0" anchor="ctr"/>
          <a:lstStyle/>
          <a:p>
            <a:pPr indent="0" marL="0">
              <a:buNone/>
            </a:pPr>
            <a:r>
              <a:rPr lang="en-US" sz="3050" b="1" dirty="0">
                <a:solidFill>
                  <a:srgbClr val="102A43"/>
                </a:solidFill>
                <a:latin typeface="Aptos Display" pitchFamily="34" charset="0"/>
                <a:ea typeface="Aptos Display" pitchFamily="34" charset="-122"/>
                <a:cs typeface="Aptos Display" pitchFamily="34" charset="-120"/>
              </a:rPr>
              <a:t>Best Model — Confusion Matrix</a:t>
            </a:r>
            <a:endParaRPr lang="en-US" sz="3050" dirty="0"/>
          </a:p>
        </p:txBody>
      </p:sp>
      <p:sp>
        <p:nvSpPr>
          <p:cNvPr id="4" name="Shape 2"/>
          <p:cNvSpPr/>
          <p:nvPr/>
        </p:nvSpPr>
        <p:spPr>
          <a:xfrm>
            <a:off x="502920" y="1115568"/>
            <a:ext cx="11064240" cy="0"/>
          </a:xfrm>
          <a:prstGeom prst="line">
            <a:avLst/>
          </a:prstGeom>
          <a:noFill/>
          <a:ln w="12700">
            <a:solidFill>
              <a:srgbClr val="D9E2EC"/>
            </a:solidFill>
            <a:prstDash val="solid"/>
          </a:ln>
        </p:spPr>
      </p:sp>
      <p:pic>
        <p:nvPicPr>
          <p:cNvPr id="5" name="Image 0" descr="/mnt/data/confusion_matrix.png">    </p:cNvPr>
          <p:cNvPicPr>
            <a:picLocks noChangeAspect="1"/>
          </p:cNvPicPr>
          <p:nvPr/>
        </p:nvPicPr>
        <p:blipFill>
          <a:blip r:embed="rId1"/>
          <a:stretch>
            <a:fillRect/>
          </a:stretch>
        </p:blipFill>
        <p:spPr>
          <a:xfrm>
            <a:off x="745236" y="1261872"/>
            <a:ext cx="5870448" cy="4892040"/>
          </a:xfrm>
          <a:prstGeom prst="rect">
            <a:avLst/>
          </a:prstGeom>
        </p:spPr>
      </p:pic>
      <p:sp>
        <p:nvSpPr>
          <p:cNvPr id="6" name="Text 3"/>
          <p:cNvSpPr/>
          <p:nvPr/>
        </p:nvSpPr>
        <p:spPr>
          <a:xfrm>
            <a:off x="7040880" y="1325880"/>
            <a:ext cx="3840480" cy="384048"/>
          </a:xfrm>
          <a:prstGeom prst="rect">
            <a:avLst/>
          </a:prstGeom>
          <a:solidFill>
            <a:srgbClr val="E8F5EE"/>
          </a:solidFill>
          <a:ln>
            <a:solidFill>
              <a:srgbClr val="E8F5EE">
                <a:alpha val="0"/>
              </a:srgbClr>
            </a:solidFill>
          </a:ln>
        </p:spPr>
        <p:txBody>
          <a:bodyPr wrap="square" lIns="762" tIns="762" rIns="762" bIns="762" rtlCol="0" anchor="ctr"/>
          <a:lstStyle/>
          <a:p>
            <a:pPr algn="ctr" indent="0" marL="0">
              <a:buNone/>
            </a:pPr>
            <a:r>
              <a:rPr lang="en-US" sz="1700" b="1" dirty="0">
                <a:solidFill>
                  <a:srgbClr val="2E8B57"/>
                </a:solidFill>
              </a:rPr>
              <a:t>MLP · context + METAR</a:t>
            </a:r>
            <a:endParaRPr lang="en-US" sz="1700" dirty="0"/>
          </a:p>
        </p:txBody>
      </p:sp>
      <p:sp>
        <p:nvSpPr>
          <p:cNvPr id="7" name="Text 4"/>
          <p:cNvSpPr/>
          <p:nvPr/>
        </p:nvSpPr>
        <p:spPr>
          <a:xfrm>
            <a:off x="7086600" y="1965960"/>
            <a:ext cx="1325880" cy="292608"/>
          </a:xfrm>
          <a:prstGeom prst="rect">
            <a:avLst/>
          </a:prstGeom>
          <a:noFill/>
          <a:ln/>
        </p:spPr>
        <p:txBody>
          <a:bodyPr wrap="square" lIns="0" tIns="0" rIns="0" bIns="0" rtlCol="0" anchor="ctr"/>
          <a:lstStyle/>
          <a:p>
            <a:pPr indent="0" marL="0">
              <a:buNone/>
            </a:pPr>
            <a:r>
              <a:rPr lang="en-US" sz="1350" dirty="0">
                <a:solidFill>
                  <a:srgbClr val="5F6C7B"/>
                </a:solidFill>
              </a:rPr>
              <a:t>Threshold</a:t>
            </a:r>
            <a:endParaRPr lang="en-US" sz="1350" dirty="0"/>
          </a:p>
        </p:txBody>
      </p:sp>
      <p:sp>
        <p:nvSpPr>
          <p:cNvPr id="8" name="Text 5"/>
          <p:cNvSpPr/>
          <p:nvPr/>
        </p:nvSpPr>
        <p:spPr>
          <a:xfrm>
            <a:off x="8796528" y="1938528"/>
            <a:ext cx="2606040" cy="329184"/>
          </a:xfrm>
          <a:prstGeom prst="rect">
            <a:avLst/>
          </a:prstGeom>
          <a:noFill/>
          <a:ln/>
        </p:spPr>
        <p:txBody>
          <a:bodyPr wrap="square" lIns="0" tIns="0" rIns="0" bIns="0" rtlCol="0" anchor="ctr">
            <a:normAutofit/>
          </a:bodyPr>
          <a:lstStyle/>
          <a:p>
            <a:pPr indent="0" marL="0">
              <a:buNone/>
            </a:pPr>
            <a:r>
              <a:rPr lang="en-US" sz="1700" b="1" dirty="0">
                <a:solidFill>
                  <a:srgbClr val="102A43"/>
                </a:solidFill>
              </a:rPr>
              <a:t>τ* = 0.131</a:t>
            </a:r>
            <a:endParaRPr lang="en-US" sz="1700" dirty="0"/>
          </a:p>
        </p:txBody>
      </p:sp>
      <p:sp>
        <p:nvSpPr>
          <p:cNvPr id="9" name="Text 6"/>
          <p:cNvSpPr/>
          <p:nvPr/>
        </p:nvSpPr>
        <p:spPr>
          <a:xfrm>
            <a:off x="7086600" y="2642616"/>
            <a:ext cx="1325880" cy="292608"/>
          </a:xfrm>
          <a:prstGeom prst="rect">
            <a:avLst/>
          </a:prstGeom>
          <a:noFill/>
          <a:ln/>
        </p:spPr>
        <p:txBody>
          <a:bodyPr wrap="square" lIns="0" tIns="0" rIns="0" bIns="0" rtlCol="0" anchor="ctr"/>
          <a:lstStyle/>
          <a:p>
            <a:pPr indent="0" marL="0">
              <a:buNone/>
            </a:pPr>
            <a:r>
              <a:rPr lang="en-US" sz="1350" dirty="0">
                <a:solidFill>
                  <a:srgbClr val="5F6C7B"/>
                </a:solidFill>
              </a:rPr>
              <a:t>True Positives</a:t>
            </a:r>
            <a:endParaRPr lang="en-US" sz="1350" dirty="0"/>
          </a:p>
        </p:txBody>
      </p:sp>
      <p:sp>
        <p:nvSpPr>
          <p:cNvPr id="10" name="Text 7"/>
          <p:cNvSpPr/>
          <p:nvPr/>
        </p:nvSpPr>
        <p:spPr>
          <a:xfrm>
            <a:off x="8796528" y="2615184"/>
            <a:ext cx="2606040" cy="329184"/>
          </a:xfrm>
          <a:prstGeom prst="rect">
            <a:avLst/>
          </a:prstGeom>
          <a:noFill/>
          <a:ln/>
        </p:spPr>
        <p:txBody>
          <a:bodyPr wrap="square" lIns="0" tIns="0" rIns="0" bIns="0" rtlCol="0" anchor="ctr">
            <a:normAutofit/>
          </a:bodyPr>
          <a:lstStyle/>
          <a:p>
            <a:pPr indent="0" marL="0">
              <a:buNone/>
            </a:pPr>
            <a:r>
              <a:rPr lang="en-US" sz="1700" b="1" dirty="0">
                <a:solidFill>
                  <a:srgbClr val="102A43"/>
                </a:solidFill>
              </a:rPr>
              <a:t>256 go-arounds detected</a:t>
            </a:r>
            <a:endParaRPr lang="en-US" sz="1700" dirty="0"/>
          </a:p>
        </p:txBody>
      </p:sp>
      <p:sp>
        <p:nvSpPr>
          <p:cNvPr id="11" name="Text 8"/>
          <p:cNvSpPr/>
          <p:nvPr/>
        </p:nvSpPr>
        <p:spPr>
          <a:xfrm>
            <a:off x="7086600" y="3319272"/>
            <a:ext cx="1325880" cy="292608"/>
          </a:xfrm>
          <a:prstGeom prst="rect">
            <a:avLst/>
          </a:prstGeom>
          <a:noFill/>
          <a:ln/>
        </p:spPr>
        <p:txBody>
          <a:bodyPr wrap="square" lIns="0" tIns="0" rIns="0" bIns="0" rtlCol="0" anchor="ctr"/>
          <a:lstStyle/>
          <a:p>
            <a:pPr indent="0" marL="0">
              <a:buNone/>
            </a:pPr>
            <a:r>
              <a:rPr lang="en-US" sz="1350" dirty="0">
                <a:solidFill>
                  <a:srgbClr val="5F6C7B"/>
                </a:solidFill>
              </a:rPr>
              <a:t>False Negatives</a:t>
            </a:r>
            <a:endParaRPr lang="en-US" sz="1350" dirty="0"/>
          </a:p>
        </p:txBody>
      </p:sp>
      <p:sp>
        <p:nvSpPr>
          <p:cNvPr id="12" name="Text 9"/>
          <p:cNvSpPr/>
          <p:nvPr/>
        </p:nvSpPr>
        <p:spPr>
          <a:xfrm>
            <a:off x="8796528" y="3291840"/>
            <a:ext cx="2606040" cy="329184"/>
          </a:xfrm>
          <a:prstGeom prst="rect">
            <a:avLst/>
          </a:prstGeom>
          <a:noFill/>
          <a:ln/>
        </p:spPr>
        <p:txBody>
          <a:bodyPr wrap="square" lIns="0" tIns="0" rIns="0" bIns="0" rtlCol="0" anchor="ctr">
            <a:normAutofit/>
          </a:bodyPr>
          <a:lstStyle/>
          <a:p>
            <a:pPr indent="0" marL="0">
              <a:buNone/>
            </a:pPr>
            <a:r>
              <a:rPr lang="en-US" sz="1700" b="1" dirty="0">
                <a:solidFill>
                  <a:srgbClr val="102A43"/>
                </a:solidFill>
              </a:rPr>
              <a:t>5,525 missed</a:t>
            </a:r>
            <a:endParaRPr lang="en-US" sz="1700" dirty="0"/>
          </a:p>
        </p:txBody>
      </p:sp>
      <p:sp>
        <p:nvSpPr>
          <p:cNvPr id="13" name="Text 10"/>
          <p:cNvSpPr/>
          <p:nvPr/>
        </p:nvSpPr>
        <p:spPr>
          <a:xfrm>
            <a:off x="7086600" y="3995928"/>
            <a:ext cx="1325880" cy="292608"/>
          </a:xfrm>
          <a:prstGeom prst="rect">
            <a:avLst/>
          </a:prstGeom>
          <a:noFill/>
          <a:ln/>
        </p:spPr>
        <p:txBody>
          <a:bodyPr wrap="square" lIns="0" tIns="0" rIns="0" bIns="0" rtlCol="0" anchor="ctr"/>
          <a:lstStyle/>
          <a:p>
            <a:pPr indent="0" marL="0">
              <a:buNone/>
            </a:pPr>
            <a:r>
              <a:rPr lang="en-US" sz="1350" dirty="0">
                <a:solidFill>
                  <a:srgbClr val="5F6C7B"/>
                </a:solidFill>
              </a:rPr>
              <a:t>False Positives</a:t>
            </a:r>
            <a:endParaRPr lang="en-US" sz="1350" dirty="0"/>
          </a:p>
        </p:txBody>
      </p:sp>
      <p:sp>
        <p:nvSpPr>
          <p:cNvPr id="14" name="Text 11"/>
          <p:cNvSpPr/>
          <p:nvPr/>
        </p:nvSpPr>
        <p:spPr>
          <a:xfrm>
            <a:off x="8796528" y="3968496"/>
            <a:ext cx="2606040" cy="329184"/>
          </a:xfrm>
          <a:prstGeom prst="rect">
            <a:avLst/>
          </a:prstGeom>
          <a:noFill/>
          <a:ln/>
        </p:spPr>
        <p:txBody>
          <a:bodyPr wrap="square" lIns="0" tIns="0" rIns="0" bIns="0" rtlCol="0" anchor="ctr">
            <a:normAutofit/>
          </a:bodyPr>
          <a:lstStyle/>
          <a:p>
            <a:pPr indent="0" marL="0">
              <a:buNone/>
            </a:pPr>
            <a:r>
              <a:rPr lang="en-US" sz="1700" b="1" dirty="0">
                <a:solidFill>
                  <a:srgbClr val="102A43"/>
                </a:solidFill>
              </a:rPr>
              <a:t>5,870 false alarms</a:t>
            </a:r>
            <a:endParaRPr lang="en-US" sz="1700" dirty="0"/>
          </a:p>
        </p:txBody>
      </p:sp>
      <p:sp>
        <p:nvSpPr>
          <p:cNvPr id="15" name="Text 12"/>
          <p:cNvSpPr/>
          <p:nvPr/>
        </p:nvSpPr>
        <p:spPr>
          <a:xfrm>
            <a:off x="7040880" y="4983480"/>
            <a:ext cx="4389120" cy="777240"/>
          </a:xfrm>
          <a:prstGeom prst="rect">
            <a:avLst/>
          </a:prstGeom>
          <a:solidFill>
            <a:srgbClr val="FFF5F5"/>
          </a:solidFill>
          <a:ln w="13970">
            <a:solidFill>
              <a:srgbClr val="D64545"/>
            </a:solidFill>
          </a:ln>
        </p:spPr>
        <p:txBody>
          <a:bodyPr wrap="square" lIns="1651" tIns="1651" rIns="1651" bIns="1651" rtlCol="0" anchor="ctr">
            <a:normAutofit/>
          </a:bodyPr>
          <a:lstStyle/>
          <a:p>
            <a:pPr indent="0" marL="0">
              <a:buNone/>
            </a:pPr>
            <a:r>
              <a:rPr lang="en-US" sz="1680" dirty="0">
                <a:solidFill>
                  <a:srgbClr val="102A43"/>
                </a:solidFill>
              </a:rPr>
              <a:t>Precision: 4.2% · Recall: 4.4% · Accuracy: 99.3%</a:t>
            </a:r>
            <a:endParaRPr lang="en-US" sz="1680" dirty="0"/>
          </a:p>
          <a:p>
            <a:pPr indent="0" marL="0">
              <a:buNone/>
            </a:pPr>
            <a:r>
              <a:rPr lang="en-US" sz="1680" dirty="0">
                <a:solidFill>
                  <a:srgbClr val="102A43"/>
                </a:solidFill>
              </a:rPr>
              <a:t>Accuracy is misleading under extreme imbalance.</a:t>
            </a:r>
            <a:endParaRPr lang="en-US" sz="1680" dirty="0"/>
          </a:p>
        </p:txBody>
      </p:sp>
      <p:sp>
        <p:nvSpPr>
          <p:cNvPr id="16" name="Text 13"/>
          <p:cNvSpPr/>
          <p:nvPr/>
        </p:nvSpPr>
        <p:spPr>
          <a:xfrm>
            <a:off x="502920" y="6519672"/>
            <a:ext cx="11155680" cy="228600"/>
          </a:xfrm>
          <a:prstGeom prst="rect">
            <a:avLst/>
          </a:prstGeom>
          <a:noFill/>
          <a:ln/>
        </p:spPr>
        <p:txBody>
          <a:bodyPr wrap="square" lIns="0" tIns="0" rIns="0" bIns="0" rtlCol="0" anchor="ctr"/>
          <a:lstStyle/>
          <a:p>
            <a:pPr algn="r" indent="0" marL="0">
              <a:buNone/>
            </a:pPr>
            <a:r>
              <a:rPr lang="en-US" sz="850" dirty="0">
                <a:solidFill>
                  <a:srgbClr val="718096"/>
                </a:solidFill>
              </a:rPr>
              <a:t>BBL514E Pattern Recognition  |  Go-Around Classification  |  8/10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4389120" cy="219456"/>
          </a:xfrm>
          <a:prstGeom prst="rect">
            <a:avLst/>
          </a:prstGeom>
          <a:noFill/>
          <a:ln/>
        </p:spPr>
        <p:txBody>
          <a:bodyPr wrap="square" lIns="0" tIns="0" rIns="0" bIns="0" rtlCol="0" anchor="ctr"/>
          <a:lstStyle/>
          <a:p>
            <a:pPr indent="0" marL="0">
              <a:buNone/>
            </a:pPr>
            <a:r>
              <a:rPr lang="en-US" sz="1050" b="1" dirty="0">
                <a:solidFill>
                  <a:srgbClr val="1677BB"/>
                </a:solidFill>
                <a:latin typeface="Aptos" pitchFamily="34" charset="0"/>
                <a:ea typeface="Aptos" pitchFamily="34" charset="-122"/>
                <a:cs typeface="Aptos" pitchFamily="34" charset="-120"/>
              </a:rPr>
              <a:t>SYSTEM</a:t>
            </a:r>
            <a:endParaRPr lang="en-US" sz="1050" dirty="0"/>
          </a:p>
        </p:txBody>
      </p:sp>
      <p:sp>
        <p:nvSpPr>
          <p:cNvPr id="3" name="Text 1"/>
          <p:cNvSpPr/>
          <p:nvPr/>
        </p:nvSpPr>
        <p:spPr>
          <a:xfrm>
            <a:off x="502920" y="530352"/>
            <a:ext cx="11064240" cy="502920"/>
          </a:xfrm>
          <a:prstGeom prst="rect">
            <a:avLst/>
          </a:prstGeom>
          <a:noFill/>
          <a:ln/>
        </p:spPr>
        <p:txBody>
          <a:bodyPr wrap="square" lIns="0" tIns="0" rIns="0" bIns="0" rtlCol="0" anchor="ctr"/>
          <a:lstStyle/>
          <a:p>
            <a:pPr indent="0" marL="0">
              <a:buNone/>
            </a:pPr>
            <a:r>
              <a:rPr lang="en-US" sz="3050" b="1" dirty="0">
                <a:solidFill>
                  <a:srgbClr val="102A43"/>
                </a:solidFill>
                <a:latin typeface="Aptos Display" pitchFamily="34" charset="0"/>
                <a:ea typeface="Aptos Display" pitchFamily="34" charset="-122"/>
                <a:cs typeface="Aptos Display" pitchFamily="34" charset="-120"/>
              </a:rPr>
              <a:t>Deployed System</a:t>
            </a:r>
            <a:endParaRPr lang="en-US" sz="3050" dirty="0"/>
          </a:p>
        </p:txBody>
      </p:sp>
      <p:sp>
        <p:nvSpPr>
          <p:cNvPr id="4" name="Shape 2"/>
          <p:cNvSpPr/>
          <p:nvPr/>
        </p:nvSpPr>
        <p:spPr>
          <a:xfrm>
            <a:off x="502920" y="1115568"/>
            <a:ext cx="11064240" cy="0"/>
          </a:xfrm>
          <a:prstGeom prst="line">
            <a:avLst/>
          </a:prstGeom>
          <a:noFill/>
          <a:ln w="12700">
            <a:solidFill>
              <a:srgbClr val="D9E2EC"/>
            </a:solidFill>
            <a:prstDash val="solid"/>
          </a:ln>
        </p:spPr>
      </p:sp>
      <p:sp>
        <p:nvSpPr>
          <p:cNvPr id="5" name="Shape 3"/>
          <p:cNvSpPr/>
          <p:nvPr/>
        </p:nvSpPr>
        <p:spPr>
          <a:xfrm>
            <a:off x="2057400" y="3127248"/>
            <a:ext cx="1097280" cy="0"/>
          </a:xfrm>
          <a:prstGeom prst="line">
            <a:avLst/>
          </a:prstGeom>
          <a:noFill/>
          <a:ln w="27940">
            <a:solidFill>
              <a:srgbClr val="1677BB"/>
            </a:solidFill>
            <a:prstDash val="solid"/>
            <a:tailEnd type="triangle"/>
          </a:ln>
        </p:spPr>
      </p:sp>
      <p:sp>
        <p:nvSpPr>
          <p:cNvPr id="6" name="Shape 4"/>
          <p:cNvSpPr/>
          <p:nvPr/>
        </p:nvSpPr>
        <p:spPr>
          <a:xfrm>
            <a:off x="4315968" y="3127248"/>
            <a:ext cx="1143000" cy="0"/>
          </a:xfrm>
          <a:prstGeom prst="line">
            <a:avLst/>
          </a:prstGeom>
          <a:noFill/>
          <a:ln w="27940">
            <a:solidFill>
              <a:srgbClr val="1677BB"/>
            </a:solidFill>
            <a:prstDash val="solid"/>
            <a:tailEnd type="triangle"/>
          </a:ln>
        </p:spPr>
      </p:sp>
      <p:sp>
        <p:nvSpPr>
          <p:cNvPr id="7" name="Shape 5"/>
          <p:cNvSpPr/>
          <p:nvPr/>
        </p:nvSpPr>
        <p:spPr>
          <a:xfrm>
            <a:off x="6629400" y="3127248"/>
            <a:ext cx="1143000" cy="0"/>
          </a:xfrm>
          <a:prstGeom prst="line">
            <a:avLst/>
          </a:prstGeom>
          <a:noFill/>
          <a:ln w="27940">
            <a:solidFill>
              <a:srgbClr val="1677BB"/>
            </a:solidFill>
            <a:prstDash val="solid"/>
            <a:tailEnd type="triangle"/>
          </a:ln>
        </p:spPr>
      </p:sp>
      <p:sp>
        <p:nvSpPr>
          <p:cNvPr id="8" name="Shape 6"/>
          <p:cNvSpPr/>
          <p:nvPr/>
        </p:nvSpPr>
        <p:spPr>
          <a:xfrm>
            <a:off x="8942832" y="3127248"/>
            <a:ext cx="960120" cy="0"/>
          </a:xfrm>
          <a:prstGeom prst="line">
            <a:avLst/>
          </a:prstGeom>
          <a:noFill/>
          <a:ln w="27940">
            <a:solidFill>
              <a:srgbClr val="1677BB"/>
            </a:solidFill>
            <a:prstDash val="solid"/>
            <a:tailEnd type="triangle"/>
          </a:ln>
        </p:spPr>
      </p:sp>
      <p:sp>
        <p:nvSpPr>
          <p:cNvPr id="9" name="Text 7"/>
          <p:cNvSpPr/>
          <p:nvPr/>
        </p:nvSpPr>
        <p:spPr>
          <a:xfrm>
            <a:off x="777240" y="2606040"/>
            <a:ext cx="1417320" cy="1024128"/>
          </a:xfrm>
          <a:prstGeom prst="rect">
            <a:avLst/>
          </a:prstGeom>
          <a:solidFill>
            <a:srgbClr val="EAF4FF"/>
          </a:solidFill>
          <a:ln w="16510">
            <a:solidFill>
              <a:srgbClr val="1677BB"/>
            </a:solidFill>
          </a:ln>
        </p:spPr>
        <p:txBody>
          <a:bodyPr wrap="square" lIns="508" tIns="508" rIns="508" bIns="508" rtlCol="0" anchor="ctr">
            <a:normAutofit/>
          </a:bodyPr>
          <a:lstStyle/>
          <a:p>
            <a:pPr algn="ctr" indent="0" marL="0">
              <a:buNone/>
            </a:pPr>
            <a:r>
              <a:rPr lang="en-US" sz="1650" b="1" dirty="0">
                <a:solidFill>
                  <a:srgbClr val="102A43"/>
                </a:solidFill>
              </a:rPr>
              <a:t>User</a:t>
            </a:r>
            <a:endParaRPr lang="en-US" sz="1650" dirty="0"/>
          </a:p>
          <a:p>
            <a:pPr algn="ctr" indent="0" marL="0">
              <a:buNone/>
            </a:pPr>
            <a:r>
              <a:rPr lang="en-US" sz="1650" b="1" dirty="0">
                <a:solidFill>
                  <a:srgbClr val="102A43"/>
                </a:solidFill>
              </a:rPr>
              <a:t>Browser</a:t>
            </a:r>
            <a:endParaRPr lang="en-US" sz="1650" dirty="0"/>
          </a:p>
        </p:txBody>
      </p:sp>
      <p:sp>
        <p:nvSpPr>
          <p:cNvPr id="10" name="Text 8"/>
          <p:cNvSpPr/>
          <p:nvPr/>
        </p:nvSpPr>
        <p:spPr>
          <a:xfrm>
            <a:off x="2971800" y="2606040"/>
            <a:ext cx="1417320" cy="1024128"/>
          </a:xfrm>
          <a:prstGeom prst="rect">
            <a:avLst/>
          </a:prstGeom>
          <a:solidFill>
            <a:srgbClr val="EAF4FF"/>
          </a:solidFill>
          <a:ln w="16510">
            <a:solidFill>
              <a:srgbClr val="1677BB"/>
            </a:solidFill>
          </a:ln>
        </p:spPr>
        <p:txBody>
          <a:bodyPr wrap="square" lIns="508" tIns="508" rIns="508" bIns="508" rtlCol="0" anchor="ctr">
            <a:normAutofit/>
          </a:bodyPr>
          <a:lstStyle/>
          <a:p>
            <a:pPr algn="ctr" indent="0" marL="0">
              <a:buNone/>
            </a:pPr>
            <a:r>
              <a:rPr lang="en-US" sz="1650" b="1" dirty="0">
                <a:solidFill>
                  <a:srgbClr val="102A43"/>
                </a:solidFill>
              </a:rPr>
              <a:t>HTML</a:t>
            </a:r>
            <a:endParaRPr lang="en-US" sz="1650" dirty="0"/>
          </a:p>
          <a:p>
            <a:pPr algn="ctr" indent="0" marL="0">
              <a:buNone/>
            </a:pPr>
            <a:r>
              <a:rPr lang="en-US" sz="1650" b="1" dirty="0">
                <a:solidFill>
                  <a:srgbClr val="102A43"/>
                </a:solidFill>
              </a:rPr>
              <a:t>Interface</a:t>
            </a:r>
            <a:endParaRPr lang="en-US" sz="1650" dirty="0"/>
          </a:p>
        </p:txBody>
      </p:sp>
      <p:sp>
        <p:nvSpPr>
          <p:cNvPr id="11" name="Text 9"/>
          <p:cNvSpPr/>
          <p:nvPr/>
        </p:nvSpPr>
        <p:spPr>
          <a:xfrm>
            <a:off x="5303520" y="2606040"/>
            <a:ext cx="1417320" cy="1024128"/>
          </a:xfrm>
          <a:prstGeom prst="rect">
            <a:avLst/>
          </a:prstGeom>
          <a:solidFill>
            <a:srgbClr val="E8F5EE"/>
          </a:solidFill>
          <a:ln w="16510">
            <a:solidFill>
              <a:srgbClr val="2E8B57"/>
            </a:solidFill>
          </a:ln>
        </p:spPr>
        <p:txBody>
          <a:bodyPr wrap="square" lIns="508" tIns="508" rIns="508" bIns="508" rtlCol="0" anchor="ctr">
            <a:normAutofit/>
          </a:bodyPr>
          <a:lstStyle/>
          <a:p>
            <a:pPr algn="ctr" indent="0" marL="0">
              <a:buNone/>
            </a:pPr>
            <a:r>
              <a:rPr lang="en-US" sz="1650" b="1" dirty="0">
                <a:solidFill>
                  <a:srgbClr val="102A43"/>
                </a:solidFill>
              </a:rPr>
              <a:t>FastAPI</a:t>
            </a:r>
            <a:endParaRPr lang="en-US" sz="1650" dirty="0"/>
          </a:p>
          <a:p>
            <a:pPr algn="ctr" indent="0" marL="0">
              <a:buNone/>
            </a:pPr>
            <a:r>
              <a:rPr lang="en-US" sz="1650" b="1" dirty="0">
                <a:solidFill>
                  <a:srgbClr val="102A43"/>
                </a:solidFill>
              </a:rPr>
              <a:t>Backend</a:t>
            </a:r>
            <a:endParaRPr lang="en-US" sz="1650" dirty="0"/>
          </a:p>
        </p:txBody>
      </p:sp>
      <p:sp>
        <p:nvSpPr>
          <p:cNvPr id="12" name="Text 10"/>
          <p:cNvSpPr/>
          <p:nvPr/>
        </p:nvSpPr>
        <p:spPr>
          <a:xfrm>
            <a:off x="7635240" y="2606040"/>
            <a:ext cx="1417320" cy="1024128"/>
          </a:xfrm>
          <a:prstGeom prst="rect">
            <a:avLst/>
          </a:prstGeom>
          <a:solidFill>
            <a:srgbClr val="FFF1E3"/>
          </a:solidFill>
          <a:ln w="16510">
            <a:solidFill>
              <a:srgbClr val="F28C28"/>
            </a:solidFill>
          </a:ln>
        </p:spPr>
        <p:txBody>
          <a:bodyPr wrap="square" lIns="508" tIns="508" rIns="508" bIns="508" rtlCol="0" anchor="ctr">
            <a:normAutofit/>
          </a:bodyPr>
          <a:lstStyle/>
          <a:p>
            <a:pPr algn="ctr" indent="0" marL="0">
              <a:buNone/>
            </a:pPr>
            <a:r>
              <a:rPr lang="en-US" sz="1650" b="1" dirty="0">
                <a:solidFill>
                  <a:srgbClr val="102A43"/>
                </a:solidFill>
              </a:rPr>
              <a:t>MLP Model</a:t>
            </a:r>
            <a:endParaRPr lang="en-US" sz="1650" dirty="0"/>
          </a:p>
          <a:p>
            <a:pPr algn="ctr" indent="0" marL="0">
              <a:buNone/>
            </a:pPr>
            <a:r>
              <a:rPr lang="en-US" sz="1650" b="1" dirty="0">
                <a:solidFill>
                  <a:srgbClr val="102A43"/>
                </a:solidFill>
              </a:rPr>
              <a:t>.joblib</a:t>
            </a:r>
            <a:endParaRPr lang="en-US" sz="1650" dirty="0"/>
          </a:p>
        </p:txBody>
      </p:sp>
      <p:sp>
        <p:nvSpPr>
          <p:cNvPr id="13" name="Text 11"/>
          <p:cNvSpPr/>
          <p:nvPr/>
        </p:nvSpPr>
        <p:spPr>
          <a:xfrm>
            <a:off x="9829800" y="2606040"/>
            <a:ext cx="1417320" cy="1024128"/>
          </a:xfrm>
          <a:prstGeom prst="rect">
            <a:avLst/>
          </a:prstGeom>
          <a:solidFill>
            <a:srgbClr val="EEF2F7"/>
          </a:solidFill>
          <a:ln w="16510">
            <a:solidFill>
              <a:srgbClr val="5F6C7B"/>
            </a:solidFill>
          </a:ln>
        </p:spPr>
        <p:txBody>
          <a:bodyPr wrap="square" lIns="508" tIns="508" rIns="508" bIns="508" rtlCol="0" anchor="ctr">
            <a:normAutofit/>
          </a:bodyPr>
          <a:lstStyle/>
          <a:p>
            <a:pPr algn="ctr" indent="0" marL="0">
              <a:buNone/>
            </a:pPr>
            <a:r>
              <a:rPr lang="en-US" sz="1650" b="1" dirty="0">
                <a:solidFill>
                  <a:srgbClr val="102A43"/>
                </a:solidFill>
              </a:rPr>
              <a:t>Docker</a:t>
            </a:r>
            <a:endParaRPr lang="en-US" sz="1650" dirty="0"/>
          </a:p>
          <a:p>
            <a:pPr algn="ctr" indent="0" marL="0">
              <a:buNone/>
            </a:pPr>
            <a:r>
              <a:rPr lang="en-US" sz="1650" b="1" dirty="0">
                <a:solidFill>
                  <a:srgbClr val="102A43"/>
                </a:solidFill>
              </a:rPr>
              <a:t>Container</a:t>
            </a:r>
            <a:endParaRPr lang="en-US" sz="1650" dirty="0"/>
          </a:p>
        </p:txBody>
      </p:sp>
      <p:sp>
        <p:nvSpPr>
          <p:cNvPr id="14" name="Text 12"/>
          <p:cNvSpPr/>
          <p:nvPr/>
        </p:nvSpPr>
        <p:spPr>
          <a:xfrm>
            <a:off x="2011680" y="2121408"/>
            <a:ext cx="1417320" cy="228600"/>
          </a:xfrm>
          <a:prstGeom prst="rect">
            <a:avLst/>
          </a:prstGeom>
          <a:noFill/>
          <a:ln/>
        </p:spPr>
        <p:txBody>
          <a:bodyPr wrap="square" lIns="0" tIns="0" rIns="0" bIns="0" rtlCol="0" anchor="ctr"/>
          <a:lstStyle/>
          <a:p>
            <a:pPr algn="ctr" indent="0" marL="0">
              <a:buNone/>
            </a:pPr>
            <a:r>
              <a:rPr lang="en-US" sz="950" dirty="0">
                <a:solidFill>
                  <a:srgbClr val="5F6C7B"/>
                </a:solidFill>
              </a:rPr>
              <a:t>HTTP POST /predict</a:t>
            </a:r>
            <a:endParaRPr lang="en-US" sz="950" dirty="0"/>
          </a:p>
        </p:txBody>
      </p:sp>
      <p:sp>
        <p:nvSpPr>
          <p:cNvPr id="15" name="Text 13"/>
          <p:cNvSpPr/>
          <p:nvPr/>
        </p:nvSpPr>
        <p:spPr>
          <a:xfrm>
            <a:off x="1325880" y="4709160"/>
            <a:ext cx="4572000" cy="1143000"/>
          </a:xfrm>
          <a:prstGeom prst="rect">
            <a:avLst/>
          </a:prstGeom>
          <a:noFill/>
          <a:ln/>
        </p:spPr>
        <p:txBody>
          <a:bodyPr wrap="square" lIns="254" tIns="254" rIns="254" bIns="254" rtlCol="0" anchor="ctr"/>
          <a:lstStyle/>
          <a:p>
            <a:pPr marL="203200" indent="-203200">
              <a:buSzPct val="100000"/>
              <a:buChar char="•"/>
            </a:pPr>
            <a:r>
              <a:rPr lang="en-US" sz="1700" dirty="0">
                <a:solidFill>
                  <a:srgbClr val="102A43"/>
                </a:solidFill>
              </a:rPr>
              <a:t>Single docker compose up to run</a:t>
            </a:r>
            <a:endParaRPr lang="en-US" sz="1700" dirty="0"/>
          </a:p>
          <a:p>
            <a:pPr marL="203200" indent="-203200">
              <a:buSzPct val="100000"/>
              <a:buChar char="•"/>
            </a:pPr>
            <a:r>
              <a:rPr lang="en-US" sz="1700" dirty="0">
                <a:solidFill>
                  <a:srgbClr val="102A43"/>
                </a:solidFill>
              </a:rPr>
              <a:t>/predict — JSON API endpoint</a:t>
            </a:r>
            <a:endParaRPr lang="en-US" sz="1700" dirty="0"/>
          </a:p>
          <a:p>
            <a:pPr marL="203200" indent="-203200">
              <a:buSzPct val="100000"/>
              <a:buChar char="•"/>
            </a:pPr>
            <a:r>
              <a:rPr lang="en-US" sz="1700" dirty="0">
                <a:solidFill>
                  <a:srgbClr val="102A43"/>
                </a:solidFill>
              </a:rPr>
              <a:t>/ — HTML form interface</a:t>
            </a:r>
            <a:endParaRPr lang="en-US" sz="1700" dirty="0"/>
          </a:p>
          <a:p>
            <a:pPr marL="203200" indent="-203200">
              <a:buSzPct val="100000"/>
              <a:buChar char="•"/>
            </a:pPr>
            <a:r>
              <a:rPr lang="en-US" sz="1700" dirty="0">
                <a:solidFill>
                  <a:srgbClr val="102A43"/>
                </a:solidFill>
              </a:rPr>
              <a:t>/health — health check</a:t>
            </a:r>
            <a:endParaRPr lang="en-US" sz="1700" dirty="0"/>
          </a:p>
        </p:txBody>
      </p:sp>
      <p:sp>
        <p:nvSpPr>
          <p:cNvPr id="16" name="Text 14"/>
          <p:cNvSpPr/>
          <p:nvPr/>
        </p:nvSpPr>
        <p:spPr>
          <a:xfrm>
            <a:off x="6400800" y="4754880"/>
            <a:ext cx="4526280" cy="685800"/>
          </a:xfrm>
          <a:prstGeom prst="rect">
            <a:avLst/>
          </a:prstGeom>
          <a:solidFill>
            <a:srgbClr val="E8F5EE"/>
          </a:solidFill>
          <a:ln w="13970">
            <a:solidFill>
              <a:srgbClr val="2E8B57"/>
            </a:solidFill>
          </a:ln>
        </p:spPr>
        <p:txBody>
          <a:bodyPr wrap="square" lIns="1651" tIns="1651" rIns="1651" bIns="1651" rtlCol="0" anchor="ctr">
            <a:normAutofit/>
          </a:bodyPr>
          <a:lstStyle/>
          <a:p>
            <a:pPr indent="0" marL="0">
              <a:buNone/>
            </a:pPr>
            <a:r>
              <a:rPr lang="en-US" sz="1700" dirty="0">
                <a:solidFill>
                  <a:srgbClr val="102A43"/>
                </a:solidFill>
              </a:rPr>
              <a:t>Backend and frontend run from the same container for the live demo.</a:t>
            </a:r>
            <a:endParaRPr lang="en-US" sz="1700" dirty="0"/>
          </a:p>
        </p:txBody>
      </p:sp>
      <p:sp>
        <p:nvSpPr>
          <p:cNvPr id="17" name="Text 15"/>
          <p:cNvSpPr/>
          <p:nvPr/>
        </p:nvSpPr>
        <p:spPr>
          <a:xfrm>
            <a:off x="502920" y="6519672"/>
            <a:ext cx="11155680" cy="228600"/>
          </a:xfrm>
          <a:prstGeom prst="rect">
            <a:avLst/>
          </a:prstGeom>
          <a:noFill/>
          <a:ln/>
        </p:spPr>
        <p:txBody>
          <a:bodyPr wrap="square" lIns="0" tIns="0" rIns="0" bIns="0" rtlCol="0" anchor="ctr"/>
          <a:lstStyle/>
          <a:p>
            <a:pPr algn="r" indent="0" marL="0">
              <a:buNone/>
            </a:pPr>
            <a:r>
              <a:rPr lang="en-US" sz="850" dirty="0">
                <a:solidFill>
                  <a:srgbClr val="718096"/>
                </a:solidFill>
              </a:rPr>
              <a:t>BBL514E Pattern Recognition  |  Go-Around Classification  |  9/10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2A43"/>
          </a:solidFill>
          <a:ln w="12700">
            <a:solidFill>
              <a:srgbClr val="333333">
                <a:alpha val="0"/>
              </a:srgbClr>
            </a:solidFill>
            <a:prstDash val="solid"/>
          </a:ln>
        </p:spPr>
      </p:sp>
      <p:sp>
        <p:nvSpPr>
          <p:cNvPr id="3" name="Text 1"/>
          <p:cNvSpPr/>
          <p:nvPr/>
        </p:nvSpPr>
        <p:spPr>
          <a:xfrm>
            <a:off x="658368" y="621792"/>
            <a:ext cx="10698480" cy="548640"/>
          </a:xfrm>
          <a:prstGeom prst="rect">
            <a:avLst/>
          </a:prstGeom>
          <a:noFill/>
          <a:ln/>
        </p:spPr>
        <p:txBody>
          <a:bodyPr wrap="square" lIns="0" tIns="0" rIns="0" bIns="0" rtlCol="0" anchor="ct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Conclusion</a:t>
            </a:r>
            <a:endParaRPr lang="en-US" sz="3800" dirty="0"/>
          </a:p>
        </p:txBody>
      </p:sp>
      <p:sp>
        <p:nvSpPr>
          <p:cNvPr id="4" name="Shape 2"/>
          <p:cNvSpPr/>
          <p:nvPr/>
        </p:nvSpPr>
        <p:spPr>
          <a:xfrm>
            <a:off x="658368" y="1261872"/>
            <a:ext cx="2926080" cy="0"/>
          </a:xfrm>
          <a:prstGeom prst="line">
            <a:avLst/>
          </a:prstGeom>
          <a:noFill/>
          <a:ln w="38100">
            <a:solidFill>
              <a:srgbClr val="F28C28"/>
            </a:solidFill>
            <a:prstDash val="solid"/>
          </a:ln>
        </p:spPr>
      </p:sp>
      <p:sp>
        <p:nvSpPr>
          <p:cNvPr id="5" name="Text 3"/>
          <p:cNvSpPr/>
          <p:nvPr/>
        </p:nvSpPr>
        <p:spPr>
          <a:xfrm>
            <a:off x="868680" y="1737360"/>
            <a:ext cx="5623560" cy="2103120"/>
          </a:xfrm>
          <a:prstGeom prst="rect">
            <a:avLst/>
          </a:prstGeom>
          <a:noFill/>
          <a:ln/>
        </p:spPr>
        <p:txBody>
          <a:bodyPr wrap="square" lIns="254" tIns="254" rIns="254" bIns="254" rtlCol="0" anchor="ctr">
            <a:normAutofit/>
          </a:bodyPr>
          <a:lstStyle/>
          <a:p>
            <a:pPr marL="203200" indent="-203200">
              <a:buSzPct val="100000"/>
              <a:buChar char="•"/>
            </a:pPr>
            <a:r>
              <a:rPr lang="en-US" sz="1840" dirty="0">
                <a:solidFill>
                  <a:srgbClr val="EAF4FF"/>
                </a:solidFill>
              </a:rPr>
              <a:t>Go-around classification from public ADS-B + METAR data is feasible</a:t>
            </a:r>
            <a:endParaRPr lang="en-US" sz="1840" dirty="0"/>
          </a:p>
          <a:p>
            <a:pPr marL="203200" indent="-203200">
              <a:buSzPct val="100000"/>
              <a:buChar char="•"/>
            </a:pPr>
            <a:r>
              <a:rPr lang="en-US" sz="1840" dirty="0">
                <a:solidFill>
                  <a:srgbClr val="EAF4FF"/>
                </a:solidFill>
              </a:rPr>
              <a:t>METAR weather features improve all models in PR-AUC</a:t>
            </a:r>
            <a:endParaRPr lang="en-US" sz="1840" dirty="0"/>
          </a:p>
          <a:p>
            <a:pPr marL="203200" indent="-203200">
              <a:buSzPct val="100000"/>
              <a:buChar char="•"/>
            </a:pPr>
            <a:r>
              <a:rPr lang="en-US" sz="1840" dirty="0">
                <a:solidFill>
                  <a:srgbClr val="EAF4FF"/>
                </a:solidFill>
              </a:rPr>
              <a:t>Best model: MLP + context+METAR — ROC-AUC 0.685, PR-AUC 0.016</a:t>
            </a:r>
            <a:endParaRPr lang="en-US" sz="1840" dirty="0"/>
          </a:p>
          <a:p>
            <a:pPr marL="203200" indent="-203200">
              <a:buSzPct val="100000"/>
              <a:buChar char="•"/>
            </a:pPr>
            <a:r>
              <a:rPr lang="en-US" sz="1840" dirty="0">
                <a:solidFill>
                  <a:srgbClr val="EAF4FF"/>
                </a:solidFill>
              </a:rPr>
              <a:t>Temporal train/validation/test split reduces leakage risk</a:t>
            </a:r>
            <a:endParaRPr lang="en-US" sz="1840" dirty="0"/>
          </a:p>
        </p:txBody>
      </p:sp>
      <p:sp>
        <p:nvSpPr>
          <p:cNvPr id="6" name="Text 4"/>
          <p:cNvSpPr/>
          <p:nvPr/>
        </p:nvSpPr>
        <p:spPr>
          <a:xfrm>
            <a:off x="6995160" y="1764792"/>
            <a:ext cx="4297680" cy="1170432"/>
          </a:xfrm>
          <a:prstGeom prst="rect">
            <a:avLst/>
          </a:prstGeom>
          <a:solidFill>
            <a:srgbClr val="173653"/>
          </a:solidFill>
          <a:ln w="13970">
            <a:solidFill>
              <a:srgbClr val="1677BB"/>
            </a:solidFill>
          </a:ln>
        </p:spPr>
        <p:txBody>
          <a:bodyPr wrap="square" lIns="1651" tIns="1651" rIns="1651" bIns="1651" rtlCol="0" anchor="ctr">
            <a:normAutofit/>
          </a:bodyPr>
          <a:lstStyle/>
          <a:p>
            <a:pPr indent="0" marL="0">
              <a:buNone/>
            </a:pPr>
            <a:r>
              <a:rPr lang="en-US" sz="1650" dirty="0">
                <a:solidFill>
                  <a:srgbClr val="FFFFFF"/>
                </a:solidFill>
              </a:rPr>
              <a:t>Limitations</a:t>
            </a:r>
            <a:endParaRPr lang="en-US" sz="1650" dirty="0"/>
          </a:p>
          <a:p>
            <a:pPr indent="0" marL="0">
              <a:buNone/>
            </a:pPr>
            <a:r>
              <a:rPr lang="en-US" sz="1650" dirty="0">
                <a:solidFill>
                  <a:srgbClr val="FFFFFF"/>
                </a:solidFill>
              </a:rPr>
              <a:t>• Landing-level aggregate features</a:t>
            </a:r>
            <a:endParaRPr lang="en-US" sz="1650" dirty="0"/>
          </a:p>
          <a:p>
            <a:pPr indent="0" marL="0">
              <a:buNone/>
            </a:pPr>
            <a:r>
              <a:rPr lang="en-US" sz="1650" dirty="0">
                <a:solidFill>
                  <a:srgbClr val="FFFFFF"/>
                </a:solidFill>
              </a:rPr>
              <a:t>• Low absolute precision/recall due to extreme imbalance</a:t>
            </a:r>
            <a:endParaRPr lang="en-US" sz="1650" dirty="0"/>
          </a:p>
        </p:txBody>
      </p:sp>
      <p:sp>
        <p:nvSpPr>
          <p:cNvPr id="7" name="Text 5"/>
          <p:cNvSpPr/>
          <p:nvPr/>
        </p:nvSpPr>
        <p:spPr>
          <a:xfrm>
            <a:off x="6995160" y="3310128"/>
            <a:ext cx="4297680" cy="1170432"/>
          </a:xfrm>
          <a:prstGeom prst="rect">
            <a:avLst/>
          </a:prstGeom>
          <a:solidFill>
            <a:srgbClr val="3D2910"/>
          </a:solidFill>
          <a:ln w="13970">
            <a:solidFill>
              <a:srgbClr val="F28C28"/>
            </a:solidFill>
          </a:ln>
        </p:spPr>
        <p:txBody>
          <a:bodyPr wrap="square" lIns="1651" tIns="1651" rIns="1651" bIns="1651" rtlCol="0" anchor="ctr">
            <a:normAutofit/>
          </a:bodyPr>
          <a:lstStyle/>
          <a:p>
            <a:pPr indent="0" marL="0">
              <a:buNone/>
            </a:pPr>
            <a:r>
              <a:rPr lang="en-US" sz="1650" dirty="0">
                <a:solidFill>
                  <a:srgbClr val="FFFFFF"/>
                </a:solidFill>
              </a:rPr>
              <a:t>Future work</a:t>
            </a:r>
            <a:endParaRPr lang="en-US" sz="1650" dirty="0"/>
          </a:p>
          <a:p>
            <a:pPr indent="0" marL="0">
              <a:buNone/>
            </a:pPr>
            <a:r>
              <a:rPr lang="en-US" sz="1650" dirty="0">
                <a:solidFill>
                  <a:srgbClr val="FFFFFF"/>
                </a:solidFill>
              </a:rPr>
              <a:t>• Sequence models on per-second ADS-B trajectories</a:t>
            </a:r>
            <a:endParaRPr lang="en-US" sz="1650" dirty="0"/>
          </a:p>
          <a:p>
            <a:pPr indent="0" marL="0">
              <a:buNone/>
            </a:pPr>
            <a:r>
              <a:rPr lang="en-US" sz="1650" dirty="0">
                <a:solidFill>
                  <a:srgbClr val="FFFFFF"/>
                </a:solidFill>
              </a:rPr>
              <a:t>• Airport-specific fine-tuning and calibration</a:t>
            </a:r>
            <a:endParaRPr lang="en-US" sz="1650" dirty="0"/>
          </a:p>
        </p:txBody>
      </p:sp>
      <p:sp>
        <p:nvSpPr>
          <p:cNvPr id="8" name="Text 6"/>
          <p:cNvSpPr/>
          <p:nvPr/>
        </p:nvSpPr>
        <p:spPr>
          <a:xfrm>
            <a:off x="877824" y="5212080"/>
            <a:ext cx="10332720" cy="594360"/>
          </a:xfrm>
          <a:prstGeom prst="rect">
            <a:avLst/>
          </a:prstGeom>
          <a:noFill/>
          <a:ln/>
        </p:spPr>
        <p:txBody>
          <a:bodyPr wrap="square" lIns="0" tIns="0" rIns="0" bIns="0" rtlCol="0" anchor="ctr"/>
          <a:lstStyle/>
          <a:p>
            <a:pPr algn="ctr" indent="0" marL="0">
              <a:buNone/>
            </a:pPr>
            <a:r>
              <a:rPr lang="en-US" sz="2800" b="1" dirty="0">
                <a:solidFill>
                  <a:srgbClr val="FFFFFF"/>
                </a:solidFill>
              </a:rPr>
              <a:t>Now we will run the live demo.</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Istanbul Technical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Go-Around Classification Using ADS-B and METAR Data</dc:title>
  <dc:subject>BBL514E Final Presentation</dc:subject>
  <dc:creator>OpenAI</dc:creator>
  <cp:lastModifiedBy>OpenAI</cp:lastModifiedBy>
  <cp:revision>1</cp:revision>
  <dcterms:created xsi:type="dcterms:W3CDTF">2026-05-10T20:57:32Z</dcterms:created>
  <dcterms:modified xsi:type="dcterms:W3CDTF">2026-05-10T20:57:32Z</dcterms:modified>
</cp:coreProperties>
</file>